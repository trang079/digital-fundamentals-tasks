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86" r:id="rId2"/>
    <p:sldMasterId id="2147483706" r:id="rId3"/>
    <p:sldMasterId id="2147483722" r:id="rId4"/>
    <p:sldMasterId id="2147483739" r:id="rId5"/>
  </p:sldMasterIdLst>
  <p:notesMasterIdLst>
    <p:notesMasterId r:id="rId15"/>
  </p:notesMasterIdLst>
  <p:sldIdLst>
    <p:sldId id="457" r:id="rId6"/>
    <p:sldId id="460" r:id="rId7"/>
    <p:sldId id="461" r:id="rId8"/>
    <p:sldId id="462" r:id="rId9"/>
    <p:sldId id="463" r:id="rId10"/>
    <p:sldId id="464" r:id="rId11"/>
    <p:sldId id="465" r:id="rId12"/>
    <p:sldId id="466" r:id="rId13"/>
    <p:sldId id="467" r:id="rId14"/>
  </p:sldIdLst>
  <p:sldSz cx="9144000" cy="6858000" type="screen4x3"/>
  <p:notesSz cx="6669088" cy="9926638"/>
  <p:defaultTextStyle>
    <a:defPPr>
      <a:defRPr lang="ru-RU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53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6B654"/>
    <a:srgbClr val="0000FF"/>
    <a:srgbClr val="C1C5CF"/>
    <a:srgbClr val="006666"/>
    <a:srgbClr val="66CCFF"/>
    <a:srgbClr val="CCFFFF"/>
    <a:srgbClr val="FF99FF"/>
    <a:srgbClr val="CCCCFF"/>
    <a:srgbClr val="EBFFFF"/>
    <a:srgbClr val="E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 autoAdjust="0"/>
    <p:restoredTop sz="92028" autoAdjust="0"/>
  </p:normalViewPr>
  <p:slideViewPr>
    <p:cSldViewPr snapToGrid="0">
      <p:cViewPr varScale="1">
        <p:scale>
          <a:sx n="63" d="100"/>
          <a:sy n="63" d="100"/>
        </p:scale>
        <p:origin x="1424" y="56"/>
      </p:cViewPr>
      <p:guideLst>
        <p:guide orient="horz" pos="3553"/>
        <p:guide pos="28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-1482" y="-78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ru-RU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ru-RU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90838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ru-RU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28163"/>
            <a:ext cx="2890837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5430628D-E520-4DD5-90C4-E4A0224F38A4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0" y="2071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3439011"/>
            <a:ext cx="9144000" cy="1079653"/>
          </a:xfrm>
          <a:prstGeom prst="rect">
            <a:avLst/>
          </a:prstGeom>
          <a:solidFill>
            <a:srgbClr val="00924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496049"/>
            <a:ext cx="9144000" cy="900692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025" b="1" kern="1200">
                <a:solidFill>
                  <a:schemeClr val="bg1"/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57929"/>
            <a:ext cx="9144000" cy="600074"/>
          </a:xfrm>
          <a:prstGeom prst="rect">
            <a:avLst/>
          </a:prstGeom>
          <a:solidFill>
            <a:schemeClr val="bg2">
              <a:alpha val="7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179107" y="6337005"/>
            <a:ext cx="2785790" cy="4638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7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pic>
        <p:nvPicPr>
          <p:cNvPr id="37889" name="Picture 1"/>
          <p:cNvPicPr>
            <a:picLocks noChangeAspect="1" noChangeArrowheads="1"/>
          </p:cNvPicPr>
          <p:nvPr userDrawn="1"/>
        </p:nvPicPr>
        <p:blipFill>
          <a:blip r:embed="rId3"/>
          <a:srcRect l="1122" t="32393" r="7979" b="24853"/>
          <a:stretch>
            <a:fillRect/>
          </a:stretch>
        </p:blipFill>
        <p:spPr bwMode="auto">
          <a:xfrm>
            <a:off x="88902" y="192552"/>
            <a:ext cx="252622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023374" y="11726"/>
            <a:ext cx="1045566" cy="1043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2347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884" y="3474129"/>
            <a:ext cx="6800632" cy="103187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kumimoji="0" lang="ru-RU" sz="2025" b="1" kern="120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94474"/>
            <a:ext cx="9144000" cy="56352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257962" y="6417472"/>
            <a:ext cx="2785790" cy="3003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7" name="Прямоугольник 16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36866" name="AutoShape 2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68" name="AutoShape 4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70" name="AutoShape 6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69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0" y="1820074"/>
            <a:ext cx="9144000" cy="3066252"/>
          </a:xfrm>
          <a:prstGeom prst="rect">
            <a:avLst/>
          </a:prstGeom>
          <a:gradFill>
            <a:gsLst>
              <a:gs pos="20000">
                <a:schemeClr val="bg1">
                  <a:alpha val="88000"/>
                </a:schemeClr>
              </a:gs>
              <a:gs pos="100000">
                <a:schemeClr val="bg1">
                  <a:alpha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7373" tIns="28686" rIns="57373" bIns="28686" anchor="ctr"/>
          <a:lstStyle>
            <a:lvl1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37084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41656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46228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50800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064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3" y="2318050"/>
            <a:ext cx="5397358" cy="12050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531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4" y="3533809"/>
            <a:ext cx="5397356" cy="42844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57203" y="396225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3" y="426720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28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/Chapter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" y="2153454"/>
            <a:ext cx="9143106" cy="2371725"/>
          </a:xfrm>
          <a:prstGeom prst="rect">
            <a:avLst/>
          </a:prstGeom>
          <a:gradFill flip="none" rotWithShape="1">
            <a:gsLst>
              <a:gs pos="20000">
                <a:schemeClr val="bg2">
                  <a:alpha val="88000"/>
                </a:schemeClr>
              </a:gs>
              <a:gs pos="100000">
                <a:schemeClr val="bg2">
                  <a:alpha val="50000"/>
                </a:schemeClr>
              </a:gs>
            </a:gsLst>
            <a:lin ang="0" scaled="1"/>
            <a:tileRect/>
          </a:gradFill>
        </p:spPr>
        <p:txBody>
          <a:bodyPr vert="horz" lIns="0" tIns="0" rIns="0" bIns="0" anchor="ctr" anchorCtr="0"/>
          <a:lstStyle>
            <a:lvl1pPr marL="462809" algn="l">
              <a:defRPr sz="3374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0271" y="6008414"/>
            <a:ext cx="8974084" cy="34858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buNone/>
              <a:defRPr lang="en-US" sz="619" smtClean="0">
                <a:solidFill>
                  <a:schemeClr val="bg1">
                    <a:lumMod val="6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1602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5"/>
            <a:ext cx="9144000" cy="64579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99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1114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67455" y="3663952"/>
            <a:ext cx="6800632" cy="708024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700" b="1" kern="1200" baseline="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139550"/>
            <a:ext cx="9144000" cy="71845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 userDrawn="1"/>
        </p:nvSpPr>
        <p:spPr bwMode="auto">
          <a:xfrm>
            <a:off x="2913919" y="184212"/>
            <a:ext cx="4284938" cy="91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Санкт-Петербургский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политехнический университет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Петра Великого</a:t>
            </a:r>
          </a:p>
        </p:txBody>
      </p:sp>
      <p:pic>
        <p:nvPicPr>
          <p:cNvPr id="12" name="ger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6219" y="54482"/>
            <a:ext cx="1007700" cy="10077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667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 userDrawn="1"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rcRect b="20310"/>
          <a:stretch>
            <a:fillRect/>
          </a:stretch>
        </p:blipFill>
        <p:spPr>
          <a:xfrm>
            <a:off x="35498" y="70024"/>
            <a:ext cx="1004549" cy="72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/>
          <p:cNvSpPr txBox="1"/>
          <p:nvPr userDrawn="1"/>
        </p:nvSpPr>
        <p:spPr>
          <a:xfrm>
            <a:off x="4191001" y="6510340"/>
            <a:ext cx="1282700" cy="4025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8B21B8-0A6E-4D87-A7B3-2B1B09857F8C}" type="slidenum">
              <a:rPr kumimoji="1" lang="ru-RU" sz="2016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pPr marL="0" marR="0" lvl="0" indent="0" algn="l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 / </a:t>
            </a:r>
            <a:r>
              <a:rPr kumimoji="1" lang="ru-RU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30</a:t>
            </a:r>
            <a:endParaRPr kumimoji="1" lang="ru-RU" sz="2016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18" name="Рисунок 17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251882" y="-1758"/>
            <a:ext cx="868142" cy="86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571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radial_grad">
    <p:bg>
      <p:bgPr>
        <a:gradFill flip="none" rotWithShape="1">
          <a:gsLst>
            <a:gs pos="46000">
              <a:schemeClr val="bg1"/>
            </a:gs>
            <a:gs pos="100000">
              <a:schemeClr val="bg1">
                <a:lumMod val="85000"/>
                <a:alpha val="71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9641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content_radial_grad"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9880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1 column)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-10160" y="539496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885365" y="5572329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9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535" y="548764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314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(1 column)"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516128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905685" y="5317910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5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0695" y="525396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09558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4646615" y="1417647"/>
            <a:ext cx="4040187" cy="47672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Прямоугольник 17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1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2533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646568" y="1417640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4646568" y="3602029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4646568" y="3852668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646568" y="6037060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grpSp>
        <p:nvGrpSpPr>
          <p:cNvPr id="18" name="Группа 17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9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Прямоугольник 19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3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74716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ith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" name="Объект 9"/>
          <p:cNvSpPr>
            <a:spLocks noGrp="1"/>
          </p:cNvSpPr>
          <p:nvPr>
            <p:ph sz="quarter" idx="10"/>
          </p:nvPr>
        </p:nvSpPr>
        <p:spPr>
          <a:xfrm>
            <a:off x="535729" y="1067204"/>
            <a:ext cx="8150222" cy="528280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8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879648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1"/>
            <a:ext cx="9144000" cy="72008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48798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48438"/>
            <a:ext cx="2133600" cy="30956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3CECE466-CB1B-4799-BB9C-E2A30F9DD79F}" type="slidenum">
              <a:rPr kumimoji="1" lang="en-US" altLang="ru-RU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ru-RU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/29</a:t>
            </a:r>
          </a:p>
        </p:txBody>
      </p:sp>
    </p:spTree>
    <p:extLst>
      <p:ext uri="{BB962C8B-B14F-4D97-AF65-F5344CB8AC3E}">
        <p14:creationId xmlns:p14="http://schemas.microsoft.com/office/powerpoint/2010/main" val="123849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3029D8FC-8790-4CCB-8501-8BAC4D2D2854}" type="slidenum">
              <a:rPr kumimoji="1" lang="en-US" altLang="en-US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en-US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157381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1FFEAF9B-9114-45AF-9B1F-A9ABF4CDE888}" type="slidenum">
              <a:rPr kumimoji="1" lang="en-US" altLang="en-US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en-US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8679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3938592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572250"/>
            <a:ext cx="2133600" cy="285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64390C1B-2576-4B2A-8C5C-81A25D9095C9}" type="slidenum">
              <a:rPr kumimoji="1" lang="en-US" altLang="ru-RU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ru-RU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</a:t>
            </a:r>
            <a:r>
              <a:rPr kumimoji="1" lang="ru-RU" altLang="ru-RU" sz="2016">
                <a:solidFill>
                  <a:srgbClr val="424242"/>
                </a:solidFill>
                <a:cs typeface="Arial" panose="020B0604020202020204" pitchFamily="34" charset="0"/>
              </a:rPr>
              <a:t>5</a:t>
            </a: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408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0" y="2071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3439011"/>
            <a:ext cx="9144000" cy="1079653"/>
          </a:xfrm>
          <a:prstGeom prst="rect">
            <a:avLst/>
          </a:prstGeom>
          <a:solidFill>
            <a:srgbClr val="00924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496049"/>
            <a:ext cx="9144000" cy="900692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025" b="1" kern="1200">
                <a:solidFill>
                  <a:schemeClr val="bg1"/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57929"/>
            <a:ext cx="9144000" cy="600074"/>
          </a:xfrm>
          <a:prstGeom prst="rect">
            <a:avLst/>
          </a:prstGeom>
          <a:solidFill>
            <a:schemeClr val="bg2">
              <a:alpha val="7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179107" y="6337005"/>
            <a:ext cx="2785790" cy="4638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7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pic>
        <p:nvPicPr>
          <p:cNvPr id="37889" name="Picture 1"/>
          <p:cNvPicPr>
            <a:picLocks noChangeAspect="1" noChangeArrowheads="1"/>
          </p:cNvPicPr>
          <p:nvPr userDrawn="1"/>
        </p:nvPicPr>
        <p:blipFill>
          <a:blip r:embed="rId3"/>
          <a:srcRect l="1122" t="32393" r="7979" b="24853"/>
          <a:stretch>
            <a:fillRect/>
          </a:stretch>
        </p:blipFill>
        <p:spPr bwMode="auto">
          <a:xfrm>
            <a:off x="88902" y="192552"/>
            <a:ext cx="252622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023374" y="11726"/>
            <a:ext cx="1045566" cy="1043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696974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884" y="3474129"/>
            <a:ext cx="6800632" cy="103187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kumimoji="0" lang="ru-RU" sz="2025" b="1" kern="120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94474"/>
            <a:ext cx="9144000" cy="56352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257962" y="6417472"/>
            <a:ext cx="2785790" cy="3003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7" name="Прямоугольник 16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36866" name="AutoShape 2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68" name="AutoShape 4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70" name="AutoShape 6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6063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0" y="1820074"/>
            <a:ext cx="9144000" cy="3066252"/>
          </a:xfrm>
          <a:prstGeom prst="rect">
            <a:avLst/>
          </a:prstGeom>
          <a:gradFill>
            <a:gsLst>
              <a:gs pos="20000">
                <a:schemeClr val="bg1">
                  <a:alpha val="88000"/>
                </a:schemeClr>
              </a:gs>
              <a:gs pos="100000">
                <a:schemeClr val="bg1">
                  <a:alpha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7373" tIns="28686" rIns="57373" bIns="28686" anchor="ctr"/>
          <a:lstStyle>
            <a:lvl1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37084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41656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46228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50800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064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3" y="2318050"/>
            <a:ext cx="5397358" cy="12050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531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4" y="3533809"/>
            <a:ext cx="5397356" cy="42844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57203" y="396225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3" y="426720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140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/Chapter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" y="2153454"/>
            <a:ext cx="9143106" cy="2371725"/>
          </a:xfrm>
          <a:prstGeom prst="rect">
            <a:avLst/>
          </a:prstGeom>
          <a:gradFill flip="none" rotWithShape="1">
            <a:gsLst>
              <a:gs pos="20000">
                <a:schemeClr val="bg2">
                  <a:alpha val="88000"/>
                </a:schemeClr>
              </a:gs>
              <a:gs pos="100000">
                <a:schemeClr val="bg2">
                  <a:alpha val="50000"/>
                </a:schemeClr>
              </a:gs>
            </a:gsLst>
            <a:lin ang="0" scaled="1"/>
            <a:tileRect/>
          </a:gradFill>
        </p:spPr>
        <p:txBody>
          <a:bodyPr vert="horz" lIns="0" tIns="0" rIns="0" bIns="0" anchor="ctr" anchorCtr="0"/>
          <a:lstStyle>
            <a:lvl1pPr marL="462809" algn="l">
              <a:defRPr sz="3374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0271" y="6008414"/>
            <a:ext cx="8974084" cy="34858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buNone/>
              <a:defRPr lang="en-US" sz="619" smtClean="0">
                <a:solidFill>
                  <a:schemeClr val="bg1">
                    <a:lumMod val="6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96987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5"/>
            <a:ext cx="9144000" cy="64579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99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43871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67455" y="3663952"/>
            <a:ext cx="6800632" cy="708024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700" b="1" kern="1200" baseline="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139550"/>
            <a:ext cx="9144000" cy="71845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 userDrawn="1"/>
        </p:nvSpPr>
        <p:spPr bwMode="auto">
          <a:xfrm>
            <a:off x="2913919" y="184212"/>
            <a:ext cx="4284938" cy="91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Санкт-Петербургский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политехнический университет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Петра Великого</a:t>
            </a:r>
          </a:p>
        </p:txBody>
      </p:sp>
      <p:pic>
        <p:nvPicPr>
          <p:cNvPr id="12" name="ger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6219" y="54482"/>
            <a:ext cx="1007700" cy="10077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46947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 userDrawn="1"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rcRect b="20310"/>
          <a:stretch>
            <a:fillRect/>
          </a:stretch>
        </p:blipFill>
        <p:spPr>
          <a:xfrm>
            <a:off x="35498" y="70024"/>
            <a:ext cx="1004549" cy="72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/>
          <p:cNvSpPr txBox="1"/>
          <p:nvPr userDrawn="1"/>
        </p:nvSpPr>
        <p:spPr>
          <a:xfrm>
            <a:off x="4191001" y="6510340"/>
            <a:ext cx="1282700" cy="4025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8B21B8-0A6E-4D87-A7B3-2B1B09857F8C}" type="slidenum">
              <a:rPr kumimoji="1" lang="ru-RU" sz="2016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pPr marL="0" marR="0" lvl="0" indent="0" algn="l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 / </a:t>
            </a:r>
            <a:r>
              <a:rPr kumimoji="1" lang="ru-RU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30</a:t>
            </a:r>
            <a:endParaRPr kumimoji="1" lang="ru-RU" sz="2016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18" name="Рисунок 17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251882" y="-1758"/>
            <a:ext cx="868142" cy="86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330969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radial_grad">
    <p:bg>
      <p:bgPr>
        <a:gradFill flip="none" rotWithShape="1">
          <a:gsLst>
            <a:gs pos="46000">
              <a:schemeClr val="bg1"/>
            </a:gs>
            <a:gs pos="100000">
              <a:schemeClr val="bg1">
                <a:lumMod val="85000"/>
                <a:alpha val="71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951580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content_radial_grad"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867646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1 column)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-10160" y="539496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885365" y="5572329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9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535" y="548764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080712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(1 column)"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516128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905685" y="5317910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5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0695" y="525396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42008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4646615" y="1417647"/>
            <a:ext cx="4040187" cy="47672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Прямоугольник 17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1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652911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646568" y="1417640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4646568" y="3602029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4646568" y="3852668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646568" y="6037060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grpSp>
        <p:nvGrpSpPr>
          <p:cNvPr id="18" name="Группа 17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9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Прямоугольник 19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3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763944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ith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" name="Объект 9"/>
          <p:cNvSpPr>
            <a:spLocks noGrp="1"/>
          </p:cNvSpPr>
          <p:nvPr>
            <p:ph sz="quarter" idx="10"/>
          </p:nvPr>
        </p:nvSpPr>
        <p:spPr>
          <a:xfrm>
            <a:off x="535729" y="1067204"/>
            <a:ext cx="8150222" cy="528280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8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88030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3029D8FC-8790-4CCB-8501-8BAC4D2D2854}" type="slidenum">
              <a:rPr kumimoji="1" lang="en-US" altLang="en-US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en-US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22562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1FFEAF9B-9114-45AF-9B1F-A9ABF4CDE888}" type="slidenum">
              <a:rPr kumimoji="1" lang="en-US" altLang="en-US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en-US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0721171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3938592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572250"/>
            <a:ext cx="2133600" cy="285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64390C1B-2576-4B2A-8C5C-81A25D9095C9}" type="slidenum">
              <a:rPr kumimoji="1" lang="en-US" altLang="ru-RU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altLang="ru-RU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</a:t>
            </a:r>
            <a:r>
              <a:rPr kumimoji="1" lang="ru-RU" altLang="ru-RU" sz="2016">
                <a:solidFill>
                  <a:srgbClr val="424242"/>
                </a:solidFill>
                <a:cs typeface="Arial" panose="020B0604020202020204" pitchFamily="34" charset="0"/>
              </a:rPr>
              <a:t>5</a:t>
            </a:r>
            <a:endParaRPr kumimoji="1" lang="en-US" altLang="ru-RU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8126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0" y="2071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3439012"/>
            <a:ext cx="9144000" cy="1278649"/>
          </a:xfrm>
          <a:prstGeom prst="rect">
            <a:avLst/>
          </a:prstGeom>
          <a:solidFill>
            <a:srgbClr val="00924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496049"/>
            <a:ext cx="9144000" cy="900692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025" b="1" kern="1200">
                <a:solidFill>
                  <a:schemeClr val="bg1"/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57929"/>
            <a:ext cx="9144000" cy="600074"/>
          </a:xfrm>
          <a:prstGeom prst="rect">
            <a:avLst/>
          </a:prstGeom>
          <a:solidFill>
            <a:schemeClr val="bg2">
              <a:alpha val="7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179107" y="6337005"/>
            <a:ext cx="2785790" cy="4638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7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pic>
        <p:nvPicPr>
          <p:cNvPr id="37889" name="Picture 1"/>
          <p:cNvPicPr>
            <a:picLocks noChangeAspect="1" noChangeArrowheads="1"/>
          </p:cNvPicPr>
          <p:nvPr userDrawn="1"/>
        </p:nvPicPr>
        <p:blipFill>
          <a:blip r:embed="rId3"/>
          <a:srcRect l="1122" t="32393" r="7979" b="24853"/>
          <a:stretch>
            <a:fillRect/>
          </a:stretch>
        </p:blipFill>
        <p:spPr bwMode="auto">
          <a:xfrm>
            <a:off x="88902" y="192552"/>
            <a:ext cx="252622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023374" y="11726"/>
            <a:ext cx="1045566" cy="1043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239868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884" y="3474129"/>
            <a:ext cx="6800632" cy="103187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kumimoji="0" lang="ru-RU" sz="2025" b="1" kern="120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94474"/>
            <a:ext cx="9144000" cy="56352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257962" y="6417472"/>
            <a:ext cx="2785790" cy="3003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7" name="Прямоугольник 16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36866" name="AutoShape 2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68" name="AutoShape 4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70" name="AutoShape 6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604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0" y="1820074"/>
            <a:ext cx="9144000" cy="3066252"/>
          </a:xfrm>
          <a:prstGeom prst="rect">
            <a:avLst/>
          </a:prstGeom>
          <a:gradFill>
            <a:gsLst>
              <a:gs pos="20000">
                <a:schemeClr val="bg1">
                  <a:alpha val="88000"/>
                </a:schemeClr>
              </a:gs>
              <a:gs pos="100000">
                <a:schemeClr val="bg1">
                  <a:alpha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7373" tIns="28686" rIns="57373" bIns="28686" anchor="ctr"/>
          <a:lstStyle>
            <a:lvl1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37084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41656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46228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50800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064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3" y="2318050"/>
            <a:ext cx="5397358" cy="12050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531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4" y="3533809"/>
            <a:ext cx="5397356" cy="42844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57203" y="396225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3" y="426720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402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/Chapter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" y="2153454"/>
            <a:ext cx="9143106" cy="2371725"/>
          </a:xfrm>
          <a:prstGeom prst="rect">
            <a:avLst/>
          </a:prstGeom>
          <a:gradFill flip="none" rotWithShape="1">
            <a:gsLst>
              <a:gs pos="20000">
                <a:schemeClr val="bg2">
                  <a:alpha val="88000"/>
                </a:schemeClr>
              </a:gs>
              <a:gs pos="100000">
                <a:schemeClr val="bg2">
                  <a:alpha val="50000"/>
                </a:schemeClr>
              </a:gs>
            </a:gsLst>
            <a:lin ang="0" scaled="1"/>
            <a:tileRect/>
          </a:gradFill>
        </p:spPr>
        <p:txBody>
          <a:bodyPr vert="horz" lIns="0" tIns="0" rIns="0" bIns="0" anchor="ctr" anchorCtr="0"/>
          <a:lstStyle>
            <a:lvl1pPr marL="462809" algn="l">
              <a:defRPr sz="3374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0271" y="6008414"/>
            <a:ext cx="8974084" cy="34858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buNone/>
              <a:defRPr lang="en-US" sz="619" smtClean="0">
                <a:solidFill>
                  <a:schemeClr val="bg1">
                    <a:lumMod val="6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950115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5"/>
            <a:ext cx="9144000" cy="64579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99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64376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67455" y="3663952"/>
            <a:ext cx="6800632" cy="708024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700" b="1" kern="1200" baseline="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139550"/>
            <a:ext cx="9144000" cy="71845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 userDrawn="1"/>
        </p:nvSpPr>
        <p:spPr bwMode="auto">
          <a:xfrm>
            <a:off x="2913919" y="184212"/>
            <a:ext cx="4284938" cy="91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Санкт-Петербургский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политехнический университет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Петра Великого</a:t>
            </a:r>
          </a:p>
        </p:txBody>
      </p:sp>
      <p:pic>
        <p:nvPicPr>
          <p:cNvPr id="12" name="ger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6219" y="54482"/>
            <a:ext cx="1007700" cy="10077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78569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 userDrawn="1"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rcRect b="20310"/>
          <a:stretch>
            <a:fillRect/>
          </a:stretch>
        </p:blipFill>
        <p:spPr>
          <a:xfrm>
            <a:off x="35498" y="70024"/>
            <a:ext cx="1004549" cy="72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/>
          <p:cNvSpPr txBox="1"/>
          <p:nvPr userDrawn="1"/>
        </p:nvSpPr>
        <p:spPr>
          <a:xfrm>
            <a:off x="4191001" y="6510340"/>
            <a:ext cx="1282700" cy="4025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8B21B8-0A6E-4D87-A7B3-2B1B09857F8C}" type="slidenum">
              <a:rPr kumimoji="1" lang="ru-RU" sz="2016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pPr marL="0" marR="0" lvl="0" indent="0" algn="l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 / </a:t>
            </a:r>
            <a:r>
              <a:rPr kumimoji="1" lang="ru-RU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30</a:t>
            </a:r>
            <a:endParaRPr kumimoji="1" lang="ru-RU" sz="2016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18" name="Рисунок 17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251882" y="-1758"/>
            <a:ext cx="868142" cy="86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9873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radial_grad">
    <p:bg>
      <p:bgPr>
        <a:gradFill flip="none" rotWithShape="1">
          <a:gsLst>
            <a:gs pos="46000">
              <a:schemeClr val="bg1"/>
            </a:gs>
            <a:gs pos="100000">
              <a:schemeClr val="bg1">
                <a:lumMod val="85000"/>
                <a:alpha val="71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35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content_radial_grad"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325829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1 column)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-10160" y="539496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885365" y="5572329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9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535" y="548764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101792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(1 column)"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516128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905685" y="5317910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5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0695" y="525396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379057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4646615" y="1417647"/>
            <a:ext cx="4040187" cy="47672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Прямоугольник 17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1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536813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646568" y="1417640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4646568" y="3602029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4646568" y="3852668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646568" y="6037060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grpSp>
        <p:nvGrpSpPr>
          <p:cNvPr id="18" name="Группа 17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9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Прямоугольник 19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3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889585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ith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" name="Объект 9"/>
          <p:cNvSpPr>
            <a:spLocks noGrp="1"/>
          </p:cNvSpPr>
          <p:nvPr>
            <p:ph sz="quarter" idx="10"/>
          </p:nvPr>
        </p:nvSpPr>
        <p:spPr>
          <a:xfrm>
            <a:off x="535729" y="1067204"/>
            <a:ext cx="8150222" cy="528280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8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8635417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1"/>
            <a:ext cx="9144000" cy="72008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5025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1C758-18F9-47FC-8AD6-7FB7E93EB1EA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2064478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21752-3106-4428-BA84-6F40B2BB02EA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41635716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9131D-32C3-48B8-901E-7B640B45C014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17435517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08C19-3147-415C-9F64-2A9277477A5E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8409273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F023-4C00-4D79-B029-9A5CFA7DE8CE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7544943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44AA6-9DE2-4AE4-B5F8-75AA9AC79CEF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7706954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6206A-E273-4ACC-AD93-C0E76C64A0D7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506723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B73B1-7EE0-4982-9007-03785B8F9110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4068053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E1BD5-E330-48B6-B29B-A6336F3CB126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20160169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7E70F-92E0-48A5-B990-F5B2E4E55FAB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862063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B58EA-5DA0-48B8-AC62-E7C1C4CA52E1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7397344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Заголовок, 2 маленьких объекта и 1 большой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57200" y="3938592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half" idx="3"/>
          </p:nvPr>
        </p:nvSpPr>
        <p:spPr>
          <a:xfrm>
            <a:off x="4648200" y="1600204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B230F-BD48-4650-A8BB-7CC4A51E6BBF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40968773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42"/>
            <a:ext cx="82296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EBA2-093F-49B7-85D9-87C4DBCDC8ED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121541245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92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7010400" y="6548438"/>
            <a:ext cx="2133600" cy="3095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EB80C-2175-4A25-BDC4-74566FC49A57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6912047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3938592"/>
            <a:ext cx="8229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548438"/>
            <a:ext cx="2133600" cy="3095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17AE8-D319-4171-AC85-67DD71B9D506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484610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57200" y="3938592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8200" y="3938592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010400" y="6548438"/>
            <a:ext cx="2133600" cy="3095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B00CD-87BF-43E8-8475-9149C228A9A8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7012583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0" y="2071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0" y="3439011"/>
            <a:ext cx="9144000" cy="1079653"/>
          </a:xfrm>
          <a:prstGeom prst="rect">
            <a:avLst/>
          </a:prstGeom>
          <a:solidFill>
            <a:srgbClr val="00924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496049"/>
            <a:ext cx="9144000" cy="900692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025" b="1" kern="1200">
                <a:solidFill>
                  <a:schemeClr val="bg1"/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57929"/>
            <a:ext cx="9144000" cy="600074"/>
          </a:xfrm>
          <a:prstGeom prst="rect">
            <a:avLst/>
          </a:prstGeom>
          <a:solidFill>
            <a:schemeClr val="bg2">
              <a:alpha val="7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179107" y="6337005"/>
            <a:ext cx="2785790" cy="4638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87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pic>
        <p:nvPicPr>
          <p:cNvPr id="37889" name="Picture 1"/>
          <p:cNvPicPr>
            <a:picLocks noChangeAspect="1" noChangeArrowheads="1"/>
          </p:cNvPicPr>
          <p:nvPr userDrawn="1"/>
        </p:nvPicPr>
        <p:blipFill>
          <a:blip r:embed="rId3"/>
          <a:srcRect l="1122" t="32393" r="7979" b="24853"/>
          <a:stretch>
            <a:fillRect/>
          </a:stretch>
        </p:blipFill>
        <p:spPr bwMode="auto">
          <a:xfrm>
            <a:off x="88902" y="192552"/>
            <a:ext cx="2526221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 userDrawn="1"/>
        </p:nvPicPr>
        <p:blipFill rotWithShape="1">
          <a:blip r:embed="rId4"/>
          <a:srcRect l="34939" t="27798" r="40888" b="33829"/>
          <a:stretch/>
        </p:blipFill>
        <p:spPr bwMode="auto">
          <a:xfrm>
            <a:off x="8023374" y="11726"/>
            <a:ext cx="1045566" cy="10435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08017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8884" y="3474129"/>
            <a:ext cx="6800632" cy="103187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kumimoji="0" lang="ru-RU" sz="2025" b="1" kern="120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294474"/>
            <a:ext cx="9144000" cy="563528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0"/>
          </p:nvPr>
        </p:nvSpPr>
        <p:spPr>
          <a:xfrm>
            <a:off x="3257962" y="6417472"/>
            <a:ext cx="2785790" cy="3003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 b="1" baseline="0"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7" name="Прямоугольник 16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T Sans" charset="-52"/>
              <a:ea typeface="PT Sans" charset="-52"/>
              <a:cs typeface="PT Sans" charset="-52"/>
            </a:endParaRPr>
          </a:p>
        </p:txBody>
      </p:sp>
      <p:sp>
        <p:nvSpPr>
          <p:cNvPr id="36866" name="AutoShape 2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68" name="AutoShape 4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870" name="AutoShape 6" descr="http://english.spbstu.ru/local/templates/main/img/polytech-logo-en-big.svg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2016" b="0" i="0" u="none" strike="noStrike" kern="1200" cap="none" spc="0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805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0" y="1820074"/>
            <a:ext cx="9144000" cy="3066252"/>
          </a:xfrm>
          <a:prstGeom prst="rect">
            <a:avLst/>
          </a:prstGeom>
          <a:gradFill>
            <a:gsLst>
              <a:gs pos="20000">
                <a:schemeClr val="bg1">
                  <a:alpha val="88000"/>
                </a:schemeClr>
              </a:gs>
              <a:gs pos="100000">
                <a:schemeClr val="bg1">
                  <a:alpha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7373" tIns="28686" rIns="57373" bIns="28686" anchor="ctr"/>
          <a:lstStyle>
            <a:lvl1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defTabSz="906463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37084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41656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46228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5080000" indent="-1422400" defTabSz="906463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064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3" y="2318050"/>
            <a:ext cx="5397358" cy="12050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531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4" y="3533809"/>
            <a:ext cx="5397356" cy="42844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80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457203" y="396225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57203" y="4267207"/>
            <a:ext cx="5397358" cy="3049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50" b="0" baseline="0">
                <a:solidFill>
                  <a:srgbClr val="000000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7377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/Chapter Titl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" y="2153454"/>
            <a:ext cx="9143106" cy="2371725"/>
          </a:xfrm>
          <a:prstGeom prst="rect">
            <a:avLst/>
          </a:prstGeom>
          <a:gradFill flip="none" rotWithShape="1">
            <a:gsLst>
              <a:gs pos="20000">
                <a:schemeClr val="bg2">
                  <a:alpha val="88000"/>
                </a:schemeClr>
              </a:gs>
              <a:gs pos="100000">
                <a:schemeClr val="bg2">
                  <a:alpha val="50000"/>
                </a:schemeClr>
              </a:gs>
            </a:gsLst>
            <a:lin ang="0" scaled="1"/>
            <a:tileRect/>
          </a:gradFill>
        </p:spPr>
        <p:txBody>
          <a:bodyPr vert="horz" lIns="0" tIns="0" rIns="0" bIns="0" anchor="ctr" anchorCtr="0"/>
          <a:lstStyle>
            <a:lvl1pPr marL="462809" algn="l">
              <a:defRPr sz="3374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0271" y="6008414"/>
            <a:ext cx="8974084" cy="348587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buNone/>
              <a:defRPr lang="en-US" sz="619" smtClean="0">
                <a:solidFill>
                  <a:schemeClr val="bg1">
                    <a:lumMod val="6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498433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5"/>
            <a:ext cx="9144000" cy="64579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99" b="1" baseline="0">
                <a:solidFill>
                  <a:schemeClr val="tx1">
                    <a:lumMod val="75000"/>
                  </a:schemeClr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65130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ain Title">
    <p:bg>
      <p:bgPr>
        <a:blipFill dpi="0" rotWithShape="0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 userDrawn="1"/>
        </p:nvSpPr>
        <p:spPr>
          <a:xfrm>
            <a:off x="0" y="3284301"/>
            <a:ext cx="9144000" cy="1411526"/>
          </a:xfrm>
          <a:prstGeom prst="rect">
            <a:avLst/>
          </a:prstGeom>
          <a:solidFill>
            <a:srgbClr val="009242">
              <a:alpha val="8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67455" y="3663952"/>
            <a:ext cx="6800632" cy="708024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kumimoji="0" lang="ru-RU" sz="2700" b="1" kern="1200" baseline="0">
                <a:solidFill>
                  <a:schemeClr val="bg1"/>
                </a:solidFill>
                <a:latin typeface="PT Sans Caption" charset="-52"/>
                <a:ea typeface="PT Sans Caption" charset="-52"/>
                <a:cs typeface="PT Sans Caption" charset="-52"/>
              </a:defRPr>
            </a:lvl1pPr>
          </a:lstStyle>
          <a:p>
            <a:r>
              <a:rPr lang="ru-RU" dirty="0"/>
              <a:t>Спасибо за внимание!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42954" y="-1000125"/>
            <a:ext cx="184731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ru-RU" sz="1134" b="0" i="0" u="none" strike="noStrike" kern="1200" cap="none" spc="0" normalizeH="0" baseline="0" noProof="0" dirty="0">
              <a:ln>
                <a:noFill/>
              </a:ln>
              <a:solidFill>
                <a:srgbClr val="424242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Прямоугольник 15"/>
          <p:cNvSpPr>
            <a:spLocks noChangeArrowheads="1"/>
          </p:cNvSpPr>
          <p:nvPr userDrawn="1"/>
        </p:nvSpPr>
        <p:spPr bwMode="auto">
          <a:xfrm>
            <a:off x="0" y="6139550"/>
            <a:ext cx="9144000" cy="718457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8"/>
            <a:ext cx="9144000" cy="1100971"/>
          </a:xfrm>
          <a:prstGeom prst="rect">
            <a:avLst/>
          </a:prstGeom>
          <a:solidFill>
            <a:schemeClr val="bg2">
              <a:alpha val="94000"/>
            </a:schemeClr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 userDrawn="1"/>
        </p:nvSpPr>
        <p:spPr bwMode="auto">
          <a:xfrm>
            <a:off x="2913919" y="184212"/>
            <a:ext cx="4284938" cy="91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Frutiger Next LT W1G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Санкт-Петербургский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политехнический университет</a:t>
            </a:r>
            <a:b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</a:br>
            <a:r>
              <a:rPr kumimoji="0" lang="ru-RU" altLang="ru-RU" sz="135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lumMod val="75000"/>
                  </a:srgbClr>
                </a:solidFill>
                <a:effectLst/>
                <a:uLnTx/>
                <a:uFillTx/>
                <a:latin typeface="PT Sans Caption" charset="-52"/>
                <a:ea typeface="PT Sans Caption" charset="-52"/>
                <a:cs typeface="PT Sans Caption" charset="-52"/>
              </a:rPr>
              <a:t>Петра Великого</a:t>
            </a:r>
          </a:p>
        </p:txBody>
      </p:sp>
      <p:pic>
        <p:nvPicPr>
          <p:cNvPr id="12" name="ger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6219" y="54482"/>
            <a:ext cx="1007700" cy="10077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398343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 userDrawn="1"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rcRect b="20310"/>
          <a:stretch>
            <a:fillRect/>
          </a:stretch>
        </p:blipFill>
        <p:spPr>
          <a:xfrm>
            <a:off x="35498" y="70024"/>
            <a:ext cx="1004549" cy="72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/>
          <p:cNvSpPr txBox="1"/>
          <p:nvPr userDrawn="1"/>
        </p:nvSpPr>
        <p:spPr>
          <a:xfrm>
            <a:off x="4191001" y="6510340"/>
            <a:ext cx="1282700" cy="4025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8B21B8-0A6E-4D87-A7B3-2B1B09857F8C}" type="slidenum">
              <a:rPr kumimoji="1" lang="ru-RU" sz="2016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pPr marL="0" marR="0" lvl="0" indent="0" algn="l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sz="201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Next LT W1G" charset="0"/>
                <a:ea typeface="+mn-ea"/>
                <a:cs typeface="Arial" panose="020B0604020202020204" pitchFamily="34" charset="0"/>
              </a:rPr>
              <a:t> / 14</a:t>
            </a:r>
            <a:endParaRPr kumimoji="1" lang="ru-RU" sz="2016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1954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radial_grad">
    <p:bg>
      <p:bgPr>
        <a:gradFill flip="none" rotWithShape="1">
          <a:gsLst>
            <a:gs pos="46000">
              <a:schemeClr val="bg1"/>
            </a:gs>
            <a:gs pos="100000">
              <a:schemeClr val="bg1">
                <a:lumMod val="85000"/>
                <a:alpha val="71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224565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content_radial_grad">
    <p:bg>
      <p:bgPr>
        <a:blipFill dpi="0" rotWithShape="1">
          <a:blip r:embed="rId2">
            <a:alphaModFix amt="1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441290"/>
            <a:ext cx="8229644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42826" indent="-282827">
              <a:buClr>
                <a:srgbClr val="13B14A"/>
              </a:buClr>
              <a:buSzPct val="100000"/>
              <a:buFont typeface="Wingdings" charset="2"/>
              <a:buChar char="§"/>
              <a:defRPr sz="2531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1pPr>
            <a:lvl2pPr marL="742788" indent="-257115">
              <a:buClr>
                <a:srgbClr val="13B14A"/>
              </a:buClr>
              <a:buSzPct val="100000"/>
              <a:buFont typeface="Wingdings" charset="2"/>
              <a:buChar char="§"/>
              <a:defRPr sz="2025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2pPr>
            <a:lvl3pPr marL="1142751" indent="-231404">
              <a:buClr>
                <a:srgbClr val="13B14A"/>
              </a:buClr>
              <a:buSzPct val="100000"/>
              <a:buFont typeface="Wingdings" charset="2"/>
              <a:buChar char="§"/>
              <a:defRPr sz="180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3pPr>
            <a:lvl4pPr marL="1599851" indent="-205692">
              <a:buClr>
                <a:srgbClr val="13B14A"/>
              </a:buClr>
              <a:buSzPct val="100000"/>
              <a:buFont typeface="Wingdings" charset="2"/>
              <a:buChar char="§"/>
              <a:defRPr sz="1518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4pPr>
            <a:lvl5pPr marL="2056952" indent="-179980">
              <a:buClr>
                <a:srgbClr val="13B14A"/>
              </a:buClr>
              <a:buSzPct val="100000"/>
              <a:buFont typeface="Wingdings" charset="2"/>
              <a:buChar char="§"/>
              <a:defRPr sz="1350" b="0" baseline="0">
                <a:solidFill>
                  <a:schemeClr val="tx1"/>
                </a:solidFill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7" name="pasted-image.pd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314863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1 column)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 userDrawn="1"/>
        </p:nvSpPr>
        <p:spPr bwMode="auto">
          <a:xfrm>
            <a:off x="-10160" y="539496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885365" y="5572329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9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535" y="548764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507204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(1 column)"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5161281"/>
            <a:ext cx="9144000" cy="792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12000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13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905685" y="5317910"/>
            <a:ext cx="56254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11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424242"/>
                </a:solidFill>
                <a:effectLst>
                  <a:outerShdw blurRad="50800" dist="38100" dir="5400000" algn="t" rotWithShape="0">
                    <a:srgbClr val="FFFFFF">
                      <a:alpha val="40000"/>
                    </a:srgbClr>
                  </a:outerShdw>
                </a:effectLst>
                <a:uLnTx/>
                <a:uFillTx/>
                <a:latin typeface="PT Sans" charset="-52"/>
                <a:ea typeface="PT Sans" charset="-52"/>
                <a:cs typeface="PT Sans" charset="-52"/>
              </a:rPr>
              <a:t>Политех</a:t>
            </a:r>
            <a:r>
              <a:rPr kumimoji="1" lang="ru-RU" sz="225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PT Sans" charset="-52"/>
                <a:ea typeface="PT Sans" charset="-52"/>
                <a:cs typeface="PT Sans" charset="-52"/>
              </a:rPr>
              <a:t> – знания высоких достижений</a:t>
            </a:r>
          </a:p>
        </p:txBody>
      </p:sp>
      <p:pic>
        <p:nvPicPr>
          <p:cNvPr id="5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80695" y="5253967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045488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4646615" y="1417647"/>
            <a:ext cx="4040187" cy="47672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rgbClr val="13B14A"/>
              </a:buCl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rgbClr val="13B14A"/>
              </a:buCl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grpSp>
        <p:nvGrpSpPr>
          <p:cNvPr id="10" name="Группа 9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8" name="Прямоугольник 17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1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138929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646568" y="1417640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4646568" y="3602029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57202" y="1417645"/>
            <a:ext cx="4040187" cy="476728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1pPr>
            <a:lvl2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2pPr>
            <a:lvl3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3pPr>
            <a:lvl4pPr>
              <a:defRPr lang="en-US" dirty="0" smtClean="0">
                <a:latin typeface="PT Sans" charset="-52"/>
                <a:ea typeface="PT Sans" charset="-52"/>
                <a:cs typeface="PT Sans" charset="-52"/>
              </a:defRPr>
            </a:lvl4pPr>
            <a:lvl5pPr>
              <a:defRPr lang="en-US" dirty="0"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4646568" y="3852668"/>
            <a:ext cx="4040232" cy="2160740"/>
          </a:xfrm>
          <a:prstGeom prst="rect">
            <a:avLst/>
          </a:prstGeom>
        </p:spPr>
        <p:txBody>
          <a:bodyPr vert="horz"/>
          <a:lstStyle>
            <a:lvl1pPr marL="0" indent="0">
              <a:buClr>
                <a:schemeClr val="accent4"/>
              </a:buClr>
              <a:buNone/>
              <a:defRPr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lvl="0"/>
            <a:r>
              <a:rPr lang="en-US" noProof="0" dirty="0" err="1"/>
              <a:t>Чтобы</a:t>
            </a:r>
            <a:r>
              <a:rPr lang="en-US" noProof="0" dirty="0"/>
              <a:t> </a:t>
            </a:r>
            <a:r>
              <a:rPr lang="en-US" noProof="0" dirty="0" err="1"/>
              <a:t>добавить</a:t>
            </a:r>
            <a:r>
              <a:rPr lang="en-US" noProof="0" dirty="0"/>
              <a:t> </a:t>
            </a:r>
            <a:r>
              <a:rPr lang="en-US" noProof="0" dirty="0" err="1"/>
              <a:t>рисунок</a:t>
            </a:r>
            <a:r>
              <a:rPr lang="en-US" noProof="0" dirty="0"/>
              <a:t>, </a:t>
            </a:r>
            <a:r>
              <a:rPr lang="en-US" noProof="0" dirty="0" err="1"/>
              <a:t>перетащите</a:t>
            </a:r>
            <a:r>
              <a:rPr lang="en-US" noProof="0" dirty="0"/>
              <a:t> </a:t>
            </a:r>
            <a:r>
              <a:rPr lang="en-US" noProof="0" dirty="0" err="1"/>
              <a:t>его</a:t>
            </a:r>
            <a:r>
              <a:rPr lang="en-US" noProof="0" dirty="0"/>
              <a:t> </a:t>
            </a:r>
            <a:r>
              <a:rPr lang="en-US" noProof="0" dirty="0" err="1"/>
              <a:t>на</a:t>
            </a:r>
            <a:r>
              <a:rPr lang="en-US" noProof="0" dirty="0"/>
              <a:t> </a:t>
            </a:r>
            <a:r>
              <a:rPr lang="en-US" noProof="0" dirty="0" err="1"/>
              <a:t>заполнитель</a:t>
            </a:r>
            <a:r>
              <a:rPr lang="en-US" noProof="0" dirty="0"/>
              <a:t> </a:t>
            </a:r>
            <a:r>
              <a:rPr lang="en-US" noProof="0" dirty="0" err="1"/>
              <a:t>или</a:t>
            </a:r>
            <a:r>
              <a:rPr lang="en-US" noProof="0" dirty="0"/>
              <a:t> </a:t>
            </a:r>
            <a:r>
              <a:rPr lang="en-US" noProof="0" dirty="0" err="1"/>
              <a:t>щелкните</a:t>
            </a:r>
            <a:r>
              <a:rPr lang="en-US" noProof="0" dirty="0"/>
              <a:t> </a:t>
            </a:r>
            <a:r>
              <a:rPr lang="en-US" noProof="0" dirty="0" err="1"/>
              <a:t>значок</a:t>
            </a:r>
            <a:endParaRPr lang="en-US" noProof="0" dirty="0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9"/>
          </p:nvPr>
        </p:nvSpPr>
        <p:spPr>
          <a:xfrm>
            <a:off x="4646568" y="6037060"/>
            <a:ext cx="4040232" cy="173215"/>
          </a:xfrm>
          <a:prstGeom prst="rect">
            <a:avLst/>
          </a:prstGeom>
        </p:spPr>
        <p:txBody>
          <a:bodyPr vert="horz" lIns="0" tIns="0" rIns="0" bIns="0" anchor="b"/>
          <a:lstStyle>
            <a:lvl1pPr marL="0" indent="0">
              <a:buNone/>
              <a:defRPr sz="619" baseline="0">
                <a:solidFill>
                  <a:schemeClr val="tx1">
                    <a:lumMod val="65000"/>
                    <a:lumOff val="35000"/>
                  </a:schemeClr>
                </a:solidFill>
                <a:latin typeface="Frutiger Next LT W1G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Образец текста</a:t>
            </a:r>
          </a:p>
        </p:txBody>
      </p:sp>
      <p:grpSp>
        <p:nvGrpSpPr>
          <p:cNvPr id="18" name="Группа 17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9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Прямоугольник 19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Прямоугольник 12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23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0504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ith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Группа 13"/>
          <p:cNvGrpSpPr/>
          <p:nvPr userDrawn="1"/>
        </p:nvGrpSpPr>
        <p:grpSpPr>
          <a:xfrm>
            <a:off x="0" y="6510344"/>
            <a:ext cx="9144000" cy="347663"/>
            <a:chOff x="0" y="8680450"/>
            <a:chExt cx="16257588" cy="463550"/>
          </a:xfrm>
        </p:grpSpPr>
        <p:pic>
          <p:nvPicPr>
            <p:cNvPr id="11" name="Рисунок 5" descr="mission_bg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80450"/>
              <a:ext cx="16257588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Прямоугольник 11"/>
            <p:cNvSpPr/>
            <p:nvPr userDrawn="1"/>
          </p:nvSpPr>
          <p:spPr>
            <a:xfrm>
              <a:off x="0" y="8680450"/>
              <a:ext cx="16257588" cy="463550"/>
            </a:xfrm>
            <a:prstGeom prst="rect">
              <a:avLst/>
            </a:prstGeom>
            <a:solidFill>
              <a:srgbClr val="13B14A">
                <a:alpha val="85882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118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ru-RU" sz="113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" name="Объект 9"/>
          <p:cNvSpPr>
            <a:spLocks noGrp="1"/>
          </p:cNvSpPr>
          <p:nvPr>
            <p:ph sz="quarter" idx="10"/>
          </p:nvPr>
        </p:nvSpPr>
        <p:spPr>
          <a:xfrm>
            <a:off x="535729" y="1067204"/>
            <a:ext cx="8150222" cy="528280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1pPr>
            <a:lvl2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2pPr>
            <a:lvl3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3pPr>
            <a:lvl4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4pPr>
            <a:lvl5pPr>
              <a:buClr>
                <a:schemeClr val="accent1"/>
              </a:buClr>
              <a:defRPr>
                <a:latin typeface="PT Sans" charset="-52"/>
                <a:ea typeface="PT Sans" charset="-52"/>
                <a:cs typeface="PT Sans" charset="-52"/>
              </a:defRPr>
            </a:lvl5pPr>
          </a:lstStyle>
          <a:p>
            <a:pPr lvl="0"/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текста</a:t>
            </a:r>
            <a:endParaRPr lang="en-US" dirty="0"/>
          </a:p>
          <a:p>
            <a:pPr lvl="1"/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2"/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3"/>
            <a:r>
              <a:rPr lang="en-US" dirty="0" err="1"/>
              <a:t>Четвертый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en-US" dirty="0"/>
          </a:p>
          <a:p>
            <a:pPr lvl="4"/>
            <a:r>
              <a:rPr lang="en-US" dirty="0" err="1"/>
              <a:t>Пятый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endParaRPr lang="ru-RU" dirty="0"/>
          </a:p>
        </p:txBody>
      </p:sp>
      <p:sp>
        <p:nvSpPr>
          <p:cNvPr id="9" name="Прямоугольник 8"/>
          <p:cNvSpPr>
            <a:spLocks noChangeArrowheads="1"/>
          </p:cNvSpPr>
          <p:nvPr userDrawn="1"/>
        </p:nvSpPr>
        <p:spPr bwMode="auto">
          <a:xfrm>
            <a:off x="0" y="-3805"/>
            <a:ext cx="9144000" cy="8685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marL="0" marR="0" lvl="0" indent="0" algn="ctr" defTabSz="51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0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Заголовок 7"/>
          <p:cNvSpPr>
            <a:spLocks noGrp="1"/>
          </p:cNvSpPr>
          <p:nvPr>
            <p:ph type="title"/>
          </p:nvPr>
        </p:nvSpPr>
        <p:spPr>
          <a:xfrm>
            <a:off x="1097650" y="-9435"/>
            <a:ext cx="7588302" cy="874143"/>
          </a:xfrm>
          <a:prstGeom prst="rect">
            <a:avLst/>
          </a:prstGeom>
        </p:spPr>
        <p:txBody>
          <a:bodyPr anchor="ctr"/>
          <a:lstStyle>
            <a:lvl1pPr algn="ctr">
              <a:defRPr sz="2000" b="1" i="0">
                <a:solidFill>
                  <a:schemeClr val="tx2">
                    <a:lumMod val="85000"/>
                    <a:lumOff val="1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r>
              <a:rPr lang="en-US" dirty="0" err="1"/>
              <a:t>Образец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endParaRPr lang="ru-RU" dirty="0"/>
          </a:p>
        </p:txBody>
      </p:sp>
      <p:pic>
        <p:nvPicPr>
          <p:cNvPr id="18" name="pasted-image.pd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7815" y="131476"/>
            <a:ext cx="675947" cy="60795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24568481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48681"/>
            <a:ext cx="9144000" cy="72008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8380418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74643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endParaRPr kumimoji="1" lang="en-US" sz="2016">
              <a:solidFill>
                <a:srgbClr val="424242"/>
              </a:solidFill>
              <a:latin typeface="Frutiger Next LT W1G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defTabSz="511800" eaLnBrk="0" hangingPunct="0">
              <a:defRPr/>
            </a:pPr>
            <a:fld id="{65F75CA0-A331-4BC9-B792-ECA09FB4A7AE}" type="slidenum">
              <a:rPr kumimoji="1" lang="en-US" sz="2016" smtClean="0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pPr algn="l" defTabSz="511800" eaLnBrk="0" hangingPunct="0">
                <a:defRPr/>
              </a:pPr>
              <a:t>‹#›</a:t>
            </a:fld>
            <a:r>
              <a:rPr kumimoji="1" lang="en-US" sz="2016">
                <a:solidFill>
                  <a:srgbClr val="424242"/>
                </a:solidFill>
                <a:latin typeface="Frutiger Next LT W1G" charset="0"/>
                <a:cs typeface="Arial" panose="020B0604020202020204" pitchFamily="34" charset="0"/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3579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3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03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hdr="0"/>
  <p:txStyles>
    <p:titleStyle>
      <a:lvl1pPr algn="l" defTabSz="457095" rtl="0" eaLnBrk="1" fontAlgn="base" hangingPunct="1">
        <a:spcBef>
          <a:spcPct val="0"/>
        </a:spcBef>
        <a:spcAft>
          <a:spcPct val="0"/>
        </a:spcAft>
        <a:defRPr sz="2531" b="1" kern="1200">
          <a:solidFill>
            <a:srgbClr val="1B58A8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2pPr>
      <a:lvl3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3pPr>
      <a:lvl4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4pPr>
      <a:lvl5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5pPr>
      <a:lvl6pPr marL="257115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6pPr>
      <a:lvl7pPr marL="514232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7pPr>
      <a:lvl8pPr marL="771347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8pPr>
      <a:lvl9pPr marL="1028463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9pPr>
    </p:titleStyle>
    <p:bodyStyle>
      <a:lvl1pPr marL="385674" indent="-385674" algn="l" defTabSz="457095" rtl="0" eaLnBrk="1" fontAlgn="base" hangingPunct="1"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kumimoji="1" sz="2531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marL="742779" indent="-285684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25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2pPr>
      <a:lvl3pPr marL="1142737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3pPr>
      <a:lvl4pPr marL="1599832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518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4pPr>
      <a:lvl5pPr marL="2056925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35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5pPr>
      <a:lvl6pPr marL="2514051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2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53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86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3" r:id="rId15"/>
    <p:sldLayoutId id="2147483704" r:id="rId16"/>
    <p:sldLayoutId id="2147483705" r:id="rId17"/>
  </p:sldLayoutIdLst>
  <p:hf hdr="0"/>
  <p:txStyles>
    <p:titleStyle>
      <a:lvl1pPr algn="l" defTabSz="457095" rtl="0" eaLnBrk="1" fontAlgn="base" hangingPunct="1">
        <a:spcBef>
          <a:spcPct val="0"/>
        </a:spcBef>
        <a:spcAft>
          <a:spcPct val="0"/>
        </a:spcAft>
        <a:defRPr sz="2531" b="1" kern="1200">
          <a:solidFill>
            <a:srgbClr val="1B58A8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2pPr>
      <a:lvl3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3pPr>
      <a:lvl4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4pPr>
      <a:lvl5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5pPr>
      <a:lvl6pPr marL="257115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6pPr>
      <a:lvl7pPr marL="514232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7pPr>
      <a:lvl8pPr marL="771347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8pPr>
      <a:lvl9pPr marL="1028463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9pPr>
    </p:titleStyle>
    <p:bodyStyle>
      <a:lvl1pPr marL="385674" indent="-385674" algn="l" defTabSz="457095" rtl="0" eaLnBrk="1" fontAlgn="base" hangingPunct="1"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kumimoji="1" sz="2531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marL="742779" indent="-285684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25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2pPr>
      <a:lvl3pPr marL="1142737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3pPr>
      <a:lvl4pPr marL="1599832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518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4pPr>
      <a:lvl5pPr marL="2056925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35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5pPr>
      <a:lvl6pPr marL="2514051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2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53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6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</p:sldLayoutIdLst>
  <p:hf hdr="0"/>
  <p:txStyles>
    <p:titleStyle>
      <a:lvl1pPr algn="l" defTabSz="457095" rtl="0" eaLnBrk="1" fontAlgn="base" hangingPunct="1">
        <a:spcBef>
          <a:spcPct val="0"/>
        </a:spcBef>
        <a:spcAft>
          <a:spcPct val="0"/>
        </a:spcAft>
        <a:defRPr sz="2531" b="1" kern="1200">
          <a:solidFill>
            <a:srgbClr val="1B58A8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2pPr>
      <a:lvl3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3pPr>
      <a:lvl4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4pPr>
      <a:lvl5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5pPr>
      <a:lvl6pPr marL="257115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6pPr>
      <a:lvl7pPr marL="514232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7pPr>
      <a:lvl8pPr marL="771347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8pPr>
      <a:lvl9pPr marL="1028463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9pPr>
    </p:titleStyle>
    <p:bodyStyle>
      <a:lvl1pPr marL="385674" indent="-385674" algn="l" defTabSz="457095" rtl="0" eaLnBrk="1" fontAlgn="base" hangingPunct="1"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kumimoji="1" sz="2531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marL="742779" indent="-285684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25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2pPr>
      <a:lvl3pPr marL="1142737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3pPr>
      <a:lvl4pPr marL="1599832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518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4pPr>
      <a:lvl5pPr marL="2056925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35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5pPr>
      <a:lvl6pPr marL="2514051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2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53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CCFFFF"/>
            </a:gs>
            <a:gs pos="50000">
              <a:schemeClr val="bg1"/>
            </a:gs>
            <a:gs pos="100000">
              <a:srgbClr val="CC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4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Arial" pitchFamily="34" charset="0"/>
              </a:defRPr>
            </a:lvl1pPr>
          </a:lstStyle>
          <a:p>
            <a:pPr algn="l"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ru-RU" sz="1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48438"/>
            <a:ext cx="2133600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0"/>
            </a:lvl1pPr>
          </a:lstStyle>
          <a:p>
            <a:pPr>
              <a:defRPr/>
            </a:pPr>
            <a:fld id="{2E70B197-DB52-47CF-A2A8-1C3A7D054F4B}" type="slidenum">
              <a:rPr lang="en-US" altLang="ru-RU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ru-RU" sz="1400">
                <a:solidFill>
                  <a:srgbClr val="000000"/>
                </a:solidFill>
                <a:latin typeface="Times New Roman" panose="02020603050405020304" pitchFamily="18" charset="0"/>
              </a:rPr>
              <a:t>/30</a:t>
            </a:r>
          </a:p>
        </p:txBody>
      </p:sp>
    </p:spTree>
    <p:extLst>
      <p:ext uri="{BB962C8B-B14F-4D97-AF65-F5344CB8AC3E}">
        <p14:creationId xmlns:p14="http://schemas.microsoft.com/office/powerpoint/2010/main" val="307044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30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</p:sldLayoutIdLst>
  <p:hf hdr="0"/>
  <p:txStyles>
    <p:titleStyle>
      <a:lvl1pPr algn="l" defTabSz="457095" rtl="0" eaLnBrk="1" fontAlgn="base" hangingPunct="1">
        <a:spcBef>
          <a:spcPct val="0"/>
        </a:spcBef>
        <a:spcAft>
          <a:spcPct val="0"/>
        </a:spcAft>
        <a:defRPr sz="2531" b="1" kern="1200">
          <a:solidFill>
            <a:srgbClr val="1B58A8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2pPr>
      <a:lvl3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3pPr>
      <a:lvl4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4pPr>
      <a:lvl5pPr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  <a:cs typeface="Frutiger Next LT W1G" charset="0"/>
        </a:defRPr>
      </a:lvl5pPr>
      <a:lvl6pPr marL="257115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6pPr>
      <a:lvl7pPr marL="514232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7pPr>
      <a:lvl8pPr marL="771347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8pPr>
      <a:lvl9pPr marL="1028463" algn="l" defTabSz="457095" rtl="0" eaLnBrk="1" fontAlgn="base" hangingPunct="1">
        <a:spcBef>
          <a:spcPct val="0"/>
        </a:spcBef>
        <a:spcAft>
          <a:spcPct val="0"/>
        </a:spcAft>
        <a:defRPr sz="2531" b="1">
          <a:solidFill>
            <a:srgbClr val="1B58A8"/>
          </a:solidFill>
          <a:latin typeface="Frutiger Next LT W1G" charset="0"/>
          <a:ea typeface="Arial" panose="020B0604020202020204" pitchFamily="34" charset="0"/>
        </a:defRPr>
      </a:lvl9pPr>
    </p:titleStyle>
    <p:bodyStyle>
      <a:lvl1pPr marL="385674" indent="-385674" algn="l" defTabSz="457095" rtl="0" eaLnBrk="1" fontAlgn="base" hangingPunct="1"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kumimoji="1" sz="2531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1pPr>
      <a:lvl2pPr marL="742779" indent="-285684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25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2pPr>
      <a:lvl3pPr marL="1142737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3pPr>
      <a:lvl4pPr marL="1599832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518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4pPr>
      <a:lvl5pPr marL="2056925" indent="-228547" algn="l" defTabSz="45709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1350" kern="1200">
          <a:solidFill>
            <a:schemeClr val="tx1"/>
          </a:solidFill>
          <a:latin typeface="Frutiger Next LT W1G"/>
          <a:ea typeface="Arial" panose="020B0604020202020204" pitchFamily="34" charset="0"/>
          <a:cs typeface="Frutiger Next LT W1G"/>
        </a:defRPr>
      </a:lvl5pPr>
      <a:lvl6pPr marL="2514051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2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5352" indent="-228550" algn="l" defTabSz="457100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0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1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02" algn="l" defTabSz="4571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z.spbstu.ru/teachers/998404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>
            <a:extLst>
              <a:ext uri="{FF2B5EF4-FFF2-40B4-BE49-F238E27FC236}">
                <a16:creationId xmlns:a16="http://schemas.microsoft.com/office/drawing/2014/main" id="{FCEEEC67-36F1-4C6C-9434-75C460841B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11. </a:t>
            </a:r>
            <a:r>
              <a:rPr lang="ru-RU" dirty="0" smtClean="0"/>
              <a:t>2025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139109" y="3454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79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18556" y="69334"/>
            <a:ext cx="1111144" cy="92456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Институт </a:t>
            </a:r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биомедицинских</a:t>
            </a:r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0" dirty="0" smtClean="0"/>
              <a:t>4731204/50001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систем </a:t>
            </a:r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 биотехнологий</a:t>
            </a:r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2512838" cy="10930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41579"/>
            <a:ext cx="9144000" cy="2477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ru-RU" sz="2500" dirty="0"/>
              <a:t>Основы цифровых </a:t>
            </a:r>
            <a:r>
              <a:rPr lang="ru-RU" sz="2500" dirty="0" smtClean="0"/>
              <a:t>технологий</a:t>
            </a:r>
            <a:endParaRPr lang="en-US" sz="2500" dirty="0" smtClean="0"/>
          </a:p>
          <a:p>
            <a:pPr algn="ctr"/>
            <a:r>
              <a:rPr lang="ru-RU" sz="40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T Sans" panose="020B0503020203020204" pitchFamily="34" charset="-52"/>
                <a:ea typeface="PT Sans" panose="020B0503020203020204" pitchFamily="34" charset="-52"/>
              </a:rPr>
              <a:t>16</a:t>
            </a:r>
            <a:r>
              <a:rPr lang="ru-RU" sz="4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T Sans" panose="020B0503020203020204" pitchFamily="34" charset="-52"/>
                <a:ea typeface="PT Sans" panose="020B0503020203020204" pitchFamily="34" charset="-52"/>
              </a:rPr>
              <a:t>. Обзор офисных пакетов </a:t>
            </a:r>
            <a:r>
              <a:rPr lang="ru-RU" sz="40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T Sans" panose="020B0503020203020204" pitchFamily="34" charset="-52"/>
                <a:ea typeface="PT Sans" panose="020B0503020203020204" pitchFamily="34" charset="-52"/>
              </a:rPr>
              <a:t>LibreOffice</a:t>
            </a:r>
            <a:r>
              <a:rPr lang="ru-RU" sz="4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  <a: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  <a:t/>
            </a:r>
            <a:b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</a:br>
            <a:endParaRPr lang="en-US" dirty="0" smtClean="0"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dirty="0" smtClean="0">
                <a:latin typeface="PT Sans" panose="020B0503020203020204" pitchFamily="34" charset="-52"/>
                <a:ea typeface="PT Sans" panose="020B0503020203020204" pitchFamily="34" charset="-52"/>
              </a:rPr>
              <a:t>Научный </a:t>
            </a:r>
            <a: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  <a:t>руководитель: </a:t>
            </a:r>
            <a:r>
              <a:rPr lang="ru-RU" u="sng" dirty="0" smtClean="0">
                <a:hlinkClick r:id="rId3"/>
              </a:rPr>
              <a:t>Горелов </a:t>
            </a:r>
            <a:r>
              <a:rPr lang="ru-RU" u="sng" dirty="0">
                <a:hlinkClick r:id="rId3"/>
              </a:rPr>
              <a:t>Сергей </a:t>
            </a:r>
            <a:r>
              <a:rPr lang="ru-RU" u="sng" dirty="0" smtClean="0">
                <a:hlinkClick r:id="rId3"/>
              </a:rPr>
              <a:t>Васильевич</a:t>
            </a:r>
            <a:endParaRPr lang="en-US" dirty="0" smtClean="0"/>
          </a:p>
          <a:p>
            <a:r>
              <a:rPr lang="ru-RU" dirty="0" smtClean="0">
                <a:latin typeface="PT Sans" panose="020B0503020203020204" pitchFamily="34" charset="-52"/>
                <a:ea typeface="PT Sans" panose="020B0503020203020204" pitchFamily="34" charset="-52"/>
              </a:rPr>
              <a:t>Докладчик</a:t>
            </a:r>
            <a: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  <a:t>: </a:t>
            </a:r>
            <a:r>
              <a:rPr lang="ru-RU" dirty="0" smtClean="0">
                <a:latin typeface="PT Sans" panose="020B0503020203020204" pitchFamily="34" charset="-52"/>
                <a:ea typeface="PT Sans" panose="020B0503020203020204" pitchFamily="34" charset="-52"/>
              </a:rPr>
              <a:t>студент </a:t>
            </a:r>
            <a: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  <a:t>1-го курса Чыонг Тхи Тхюи </a:t>
            </a:r>
            <a:r>
              <a:rPr lang="ru-RU" dirty="0" smtClean="0">
                <a:latin typeface="PT Sans" panose="020B0503020203020204" pitchFamily="34" charset="-52"/>
                <a:ea typeface="PT Sans" panose="020B0503020203020204" pitchFamily="34" charset="-52"/>
              </a:rPr>
              <a:t>Чанг</a:t>
            </a:r>
            <a:endParaRPr lang="en-US" dirty="0" smtClean="0"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  <a:t/>
            </a:r>
            <a:br>
              <a:rPr lang="ru-RU" dirty="0">
                <a:latin typeface="PT Sans" panose="020B0503020203020204" pitchFamily="34" charset="-52"/>
                <a:ea typeface="PT Sans" panose="020B0503020203020204" pitchFamily="34" charset="-52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5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A44FB846-07B3-4BCE-8D1F-FFA3EAE9536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66223" y="2337509"/>
            <a:ext cx="4570095" cy="303784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/>
              <a:t> </a:t>
            </a:r>
            <a:r>
              <a:rPr lang="ru-RU" sz="2000" dirty="0"/>
              <a:t>LibreOffice - это бесплатный, кроссплатформенный и полнофункциональный офисный пакет с открытым исходным кодом. Он включает в себя Writer (текстовый процессор), Calc (электронные таблицы), Impress (презентации), Draw (рисование), Base (база данных) и Math (редактор формул).</a:t>
            </a:r>
            <a:endParaRPr lang="en-US" sz="2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34861F-FD86-4498-BAED-84CF02DC1354}"/>
              </a:ext>
            </a:extLst>
          </p:cNvPr>
          <p:cNvSpPr/>
          <p:nvPr/>
        </p:nvSpPr>
        <p:spPr>
          <a:xfrm>
            <a:off x="4774406" y="6619875"/>
            <a:ext cx="123825" cy="19764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29600" y="87348"/>
            <a:ext cx="721360" cy="68481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>
                <a:gd name="adj" fmla="val 10799999"/>
              </a:avLst>
            </a:prstTxWarp>
            <a:spAutoFit/>
          </a:bodyPr>
          <a:lstStyle/>
          <a:p>
            <a:pPr algn="ctr"/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Институт </a:t>
            </a:r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биомедицинских</a:t>
            </a:r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0" dirty="0" smtClean="0"/>
              <a:t>4731204/50001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систем </a:t>
            </a:r>
            <a:r>
              <a:rPr lang="ru-RU" sz="54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 биотехнологий</a:t>
            </a:r>
            <a:endParaRPr lang="en-US" sz="5400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2951" y="45033"/>
            <a:ext cx="7033528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 Общая оценка офисного пакета LibreOffice: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764" y="1633792"/>
            <a:ext cx="3983412" cy="384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7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7"/>
          </p:nvPr>
        </p:nvSpPr>
        <p:spPr>
          <a:xfrm>
            <a:off x="-1" y="3169920"/>
            <a:ext cx="4820681" cy="2454955"/>
          </a:xfrm>
        </p:spPr>
        <p:txBody>
          <a:bodyPr/>
          <a:lstStyle/>
          <a:p>
            <a:pPr marL="0" indent="0">
              <a:buNone/>
            </a:pPr>
            <a:endParaRPr lang="en-US" sz="1900" dirty="0" smtClean="0"/>
          </a:p>
          <a:p>
            <a:pPr marL="0" indent="0">
              <a:buNone/>
            </a:pPr>
            <a:r>
              <a:rPr lang="ru-RU" sz="1900" b="1" dirty="0"/>
              <a:t>Недостатки: </a:t>
            </a:r>
            <a:r>
              <a:rPr lang="ru-RU" sz="1900" dirty="0"/>
              <a:t>Пользовательский интерфейс может быть немного устаревшим, могут возникнуть проблемы с совместимостью со сложными файлами Microsoft Office, производительность может быть низкой на компьютерах с низкой конфигурацией, отсутствует ряд расширенных функций.</a:t>
            </a:r>
            <a:endParaRPr lang="en-US" sz="19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6530" y="142965"/>
            <a:ext cx="7588302" cy="874143"/>
          </a:xfrm>
        </p:spPr>
        <p:txBody>
          <a:bodyPr/>
          <a:lstStyle/>
          <a:p>
            <a:r>
              <a:rPr lang="ru-RU" dirty="0" smtClean="0"/>
              <a:t>Преимущества</a:t>
            </a:r>
            <a:r>
              <a:rPr lang="en-US" dirty="0" smtClean="0"/>
              <a:t> &amp; </a:t>
            </a:r>
            <a:r>
              <a:rPr lang="ru-RU" dirty="0"/>
              <a:t>Недостатки:</a:t>
            </a:r>
            <a:br>
              <a:rPr lang="ru-RU" dirty="0"/>
            </a:b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681" y="1264280"/>
            <a:ext cx="4184865" cy="33717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111760" y="1264280"/>
            <a:ext cx="49324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b="1" dirty="0"/>
              <a:t>Преимущества</a:t>
            </a:r>
            <a:r>
              <a:rPr lang="en-US" b="1" dirty="0"/>
              <a:t>: </a:t>
            </a:r>
            <a:r>
              <a:rPr lang="ru-RU" dirty="0"/>
              <a:t>Бесплатный, с открытым исходным кодом, кроссплатформенный, поддерживает множество форматов файлов, многофункциональный, большое сообщество поддержки, возможность расширения.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54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7"/>
          </p:nvPr>
        </p:nvPicPr>
        <p:blipFill>
          <a:blip r:embed="rId2"/>
          <a:stretch>
            <a:fillRect/>
          </a:stretch>
        </p:blipFill>
        <p:spPr>
          <a:xfrm>
            <a:off x="182880" y="956353"/>
            <a:ext cx="8070738" cy="198050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>
                <a:solidFill>
                  <a:srgbClr val="46B654"/>
                </a:solidFill>
              </a:rPr>
              <a:t>2. Сравнение LibreOffice с Microsoft Office </a:t>
            </a:r>
            <a:r>
              <a:rPr lang="ru-RU" dirty="0" smtClean="0">
                <a:solidFill>
                  <a:srgbClr val="46B654"/>
                </a:solidFill>
              </a:rPr>
              <a:t>и </a:t>
            </a:r>
            <a:r>
              <a:rPr lang="ru-RU" dirty="0">
                <a:solidFill>
                  <a:srgbClr val="46B654"/>
                </a:solidFill>
              </a:rPr>
              <a:t>другими офисными приложениями:</a:t>
            </a:r>
            <a:endParaRPr lang="en-US" dirty="0">
              <a:solidFill>
                <a:srgbClr val="46B65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" y="3161286"/>
            <a:ext cx="2814320" cy="3268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Примечания: </a:t>
            </a:r>
            <a:endParaRPr lang="en-US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Функциональность: Оценка количества и качества функций, доступных в офисном пакете.</a:t>
            </a:r>
            <a:endParaRPr lang="en-US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Интерфейс: Оценка удобства и простоты использования пользовательского интерфейса.</a:t>
            </a:r>
            <a:endParaRPr lang="en-US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Производительность: Оценка скорости и стабильности офисного пакета.</a:t>
            </a: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66481" y="3030031"/>
            <a:ext cx="3850640" cy="336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Совместимость</a:t>
            </a: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Оценка возможности открывать и редактировать форматы файлов Microsoft Office.</a:t>
            </a:r>
            <a:endParaRPr lang="en-US" sz="15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Ценность: Оценка баланса между стоимостью и преимуществами (функциональность, производительность и т. д</a:t>
            </a:r>
            <a:r>
              <a:rPr 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</a:t>
            </a:r>
            <a:endParaRPr lang="en-US" sz="15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Источники оценок и </a:t>
            </a:r>
            <a:r>
              <a:rPr lang="ru-RU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обзоров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The Document Foundation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Wiki; -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LibreOffice.fr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;-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WPS Office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Blog; - ONLYOFFICE; -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FreeOffice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;-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AlternativeTo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:- 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Toolify.ai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;-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Switching.software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;-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ArcaneOffice</a:t>
            </a:r>
            <a:endParaRPr lang="en-US" sz="1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39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>
                <a:solidFill>
                  <a:srgbClr val="46B654"/>
                </a:solidFill>
              </a:rPr>
              <a:t>Сравнение LibreOffice с Microsoft Office и другими офисными приложениями:</a:t>
            </a:r>
            <a:endParaRPr lang="en-US" dirty="0">
              <a:solidFill>
                <a:srgbClr val="46B65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24096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/>
              <a:t>Microsoft Office: </a:t>
            </a:r>
            <a:r>
              <a:rPr lang="en-US" sz="1500" dirty="0" err="1"/>
              <a:t>Остается</a:t>
            </a:r>
            <a:r>
              <a:rPr lang="en-US" sz="1500" dirty="0"/>
              <a:t> </a:t>
            </a:r>
            <a:r>
              <a:rPr lang="en-US" sz="1500" dirty="0" err="1"/>
              <a:t>золотым</a:t>
            </a:r>
            <a:r>
              <a:rPr lang="en-US" sz="1500" dirty="0"/>
              <a:t> </a:t>
            </a:r>
            <a:r>
              <a:rPr lang="en-US" sz="1500" dirty="0" err="1"/>
              <a:t>стандартом</a:t>
            </a:r>
            <a:r>
              <a:rPr lang="en-US" sz="1500" dirty="0"/>
              <a:t> в </a:t>
            </a:r>
            <a:r>
              <a:rPr lang="en-US" sz="1500" dirty="0" err="1"/>
              <a:t>отрасли</a:t>
            </a:r>
            <a:r>
              <a:rPr lang="en-US" sz="1500" dirty="0"/>
              <a:t>, с </a:t>
            </a:r>
            <a:r>
              <a:rPr lang="en-US" sz="1500" dirty="0" err="1"/>
              <a:t>множеством</a:t>
            </a:r>
            <a:r>
              <a:rPr lang="en-US" sz="1500" dirty="0"/>
              <a:t> </a:t>
            </a:r>
            <a:r>
              <a:rPr lang="en-US" sz="1500" dirty="0" err="1"/>
              <a:t>функций</a:t>
            </a:r>
            <a:r>
              <a:rPr lang="en-US" sz="1500" dirty="0"/>
              <a:t> и </a:t>
            </a:r>
            <a:r>
              <a:rPr lang="en-US" sz="1500" dirty="0" err="1"/>
              <a:t>лучшей</a:t>
            </a:r>
            <a:r>
              <a:rPr lang="en-US" sz="1500" dirty="0"/>
              <a:t> </a:t>
            </a:r>
            <a:r>
              <a:rPr lang="en-US" sz="1500" dirty="0" err="1"/>
              <a:t>совместимостью</a:t>
            </a:r>
            <a:r>
              <a:rPr lang="en-US" sz="1500" dirty="0"/>
              <a:t>. </a:t>
            </a:r>
            <a:r>
              <a:rPr lang="en-US" sz="1500" dirty="0" err="1"/>
              <a:t>Однако</a:t>
            </a:r>
            <a:r>
              <a:rPr lang="en-US" sz="1500" dirty="0"/>
              <a:t> </a:t>
            </a:r>
            <a:r>
              <a:rPr lang="en-US" sz="1500" dirty="0" err="1"/>
              <a:t>стоимость</a:t>
            </a:r>
            <a:r>
              <a:rPr lang="en-US" sz="1500" dirty="0"/>
              <a:t> </a:t>
            </a:r>
            <a:r>
              <a:rPr lang="en-US" sz="1500" dirty="0" err="1"/>
              <a:t>является</a:t>
            </a:r>
            <a:r>
              <a:rPr lang="en-US" sz="1500" dirty="0"/>
              <a:t> </a:t>
            </a:r>
            <a:r>
              <a:rPr lang="en-US" sz="1500" dirty="0" err="1"/>
              <a:t>большим</a:t>
            </a:r>
            <a:r>
              <a:rPr lang="en-US" sz="1500" dirty="0"/>
              <a:t> </a:t>
            </a:r>
            <a:r>
              <a:rPr lang="en-US" sz="1500" dirty="0" err="1"/>
              <a:t>препятствием</a:t>
            </a:r>
            <a:r>
              <a:rPr lang="en-US" sz="15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-15479" y="2010264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 err="1"/>
              <a:t>LibreOffice</a:t>
            </a:r>
            <a:r>
              <a:rPr lang="en-US" sz="1500" dirty="0"/>
              <a:t>: </a:t>
            </a:r>
            <a:r>
              <a:rPr lang="en-US" sz="1500" dirty="0" err="1"/>
              <a:t>Отличный</a:t>
            </a:r>
            <a:r>
              <a:rPr lang="en-US" sz="1500" dirty="0"/>
              <a:t> </a:t>
            </a:r>
            <a:r>
              <a:rPr lang="en-US" sz="1500" dirty="0" err="1"/>
              <a:t>выбор</a:t>
            </a:r>
            <a:r>
              <a:rPr lang="en-US" sz="1500" dirty="0"/>
              <a:t> </a:t>
            </a:r>
            <a:r>
              <a:rPr lang="en-US" sz="1500" dirty="0" err="1"/>
              <a:t>для</a:t>
            </a:r>
            <a:r>
              <a:rPr lang="en-US" sz="1500" dirty="0"/>
              <a:t> </a:t>
            </a:r>
            <a:r>
              <a:rPr lang="en-US" sz="1500" dirty="0" err="1"/>
              <a:t>пользователей</a:t>
            </a:r>
            <a:r>
              <a:rPr lang="en-US" sz="1500" dirty="0"/>
              <a:t>, </a:t>
            </a:r>
            <a:r>
              <a:rPr lang="en-US" sz="1500" dirty="0" err="1"/>
              <a:t>которым</a:t>
            </a:r>
            <a:r>
              <a:rPr lang="en-US" sz="1500" dirty="0"/>
              <a:t> </a:t>
            </a:r>
            <a:r>
              <a:rPr lang="en-US" sz="1500" dirty="0" err="1"/>
              <a:t>нужен</a:t>
            </a:r>
            <a:r>
              <a:rPr lang="en-US" sz="1500" dirty="0"/>
              <a:t> </a:t>
            </a:r>
            <a:r>
              <a:rPr lang="en-US" sz="1500" dirty="0" err="1"/>
              <a:t>бесплатный</a:t>
            </a:r>
            <a:r>
              <a:rPr lang="en-US" sz="1500" dirty="0"/>
              <a:t>, </a:t>
            </a:r>
            <a:r>
              <a:rPr lang="en-US" sz="1500" dirty="0" err="1"/>
              <a:t>кроссплатформенный</a:t>
            </a:r>
            <a:r>
              <a:rPr lang="en-US" sz="1500" dirty="0"/>
              <a:t> и </a:t>
            </a:r>
            <a:r>
              <a:rPr lang="en-US" sz="1500" dirty="0" err="1"/>
              <a:t>полнофункциональный</a:t>
            </a:r>
            <a:r>
              <a:rPr lang="en-US" sz="1500" dirty="0"/>
              <a:t> </a:t>
            </a:r>
            <a:r>
              <a:rPr lang="en-US" sz="1500" dirty="0" err="1"/>
              <a:t>офисный</a:t>
            </a:r>
            <a:r>
              <a:rPr lang="en-US" sz="1500" dirty="0"/>
              <a:t> </a:t>
            </a:r>
            <a:r>
              <a:rPr lang="en-US" sz="1500" dirty="0" err="1"/>
              <a:t>пакет</a:t>
            </a:r>
            <a:r>
              <a:rPr lang="en-US" sz="15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-15479" y="3048712"/>
            <a:ext cx="4572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 smtClean="0"/>
              <a:t>WPS </a:t>
            </a:r>
            <a:r>
              <a:rPr lang="en-US" sz="1500" dirty="0"/>
              <a:t>Office: </a:t>
            </a:r>
            <a:r>
              <a:rPr lang="en-US" sz="1500" dirty="0" err="1"/>
              <a:t>Хороший</a:t>
            </a:r>
            <a:r>
              <a:rPr lang="en-US" sz="1500" dirty="0"/>
              <a:t> </a:t>
            </a:r>
            <a:r>
              <a:rPr lang="en-US" sz="1500" dirty="0" err="1"/>
              <a:t>выбор</a:t>
            </a:r>
            <a:r>
              <a:rPr lang="en-US" sz="1500" dirty="0"/>
              <a:t> с </a:t>
            </a:r>
            <a:r>
              <a:rPr lang="en-US" sz="1500" dirty="0" err="1"/>
              <a:t>более</a:t>
            </a:r>
            <a:r>
              <a:rPr lang="en-US" sz="1500" dirty="0"/>
              <a:t> </a:t>
            </a:r>
            <a:r>
              <a:rPr lang="en-US" sz="1500" dirty="0" err="1"/>
              <a:t>современным</a:t>
            </a:r>
            <a:r>
              <a:rPr lang="en-US" sz="1500" dirty="0"/>
              <a:t> </a:t>
            </a:r>
            <a:r>
              <a:rPr lang="en-US" sz="1500" dirty="0" err="1"/>
              <a:t>интерфейсом</a:t>
            </a:r>
            <a:r>
              <a:rPr lang="en-US" sz="1500" dirty="0"/>
              <a:t> и </a:t>
            </a:r>
            <a:r>
              <a:rPr lang="en-US" sz="1500" dirty="0" err="1"/>
              <a:t>хорошей</a:t>
            </a:r>
            <a:r>
              <a:rPr lang="en-US" sz="1500" dirty="0"/>
              <a:t> </a:t>
            </a:r>
            <a:r>
              <a:rPr lang="en-US" sz="1500" dirty="0" err="1"/>
              <a:t>совместимостью</a:t>
            </a:r>
            <a:r>
              <a:rPr lang="en-US" sz="1500" dirty="0"/>
              <a:t> с Microsoft Office.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-15479" y="387847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/>
              <a:t> Apache OpenOffice: </a:t>
            </a:r>
            <a:r>
              <a:rPr lang="en-US" sz="1500" dirty="0" err="1"/>
              <a:t>Еще</a:t>
            </a:r>
            <a:r>
              <a:rPr lang="en-US" sz="1500" dirty="0"/>
              <a:t> </a:t>
            </a:r>
            <a:r>
              <a:rPr lang="en-US" sz="1500" dirty="0" err="1"/>
              <a:t>один</a:t>
            </a:r>
            <a:r>
              <a:rPr lang="en-US" sz="1500" dirty="0"/>
              <a:t> </a:t>
            </a:r>
            <a:r>
              <a:rPr lang="en-US" sz="1500" dirty="0" err="1"/>
              <a:t>вариант</a:t>
            </a:r>
            <a:r>
              <a:rPr lang="en-US" sz="1500" dirty="0"/>
              <a:t> с </a:t>
            </a:r>
            <a:r>
              <a:rPr lang="en-US" sz="1500" dirty="0" err="1"/>
              <a:t>открытым</a:t>
            </a:r>
            <a:r>
              <a:rPr lang="en-US" sz="1500" dirty="0"/>
              <a:t> </a:t>
            </a:r>
            <a:r>
              <a:rPr lang="en-US" sz="1500" dirty="0" err="1"/>
              <a:t>исходным</a:t>
            </a:r>
            <a:r>
              <a:rPr lang="en-US" sz="1500" dirty="0"/>
              <a:t> </a:t>
            </a:r>
            <a:r>
              <a:rPr lang="en-US" sz="1500" dirty="0" err="1"/>
              <a:t>кодом</a:t>
            </a:r>
            <a:r>
              <a:rPr lang="en-US" sz="1500" dirty="0"/>
              <a:t>, </a:t>
            </a:r>
            <a:r>
              <a:rPr lang="en-US" sz="1500" dirty="0" err="1"/>
              <a:t>но</a:t>
            </a:r>
            <a:r>
              <a:rPr lang="en-US" sz="1500" dirty="0"/>
              <a:t> </a:t>
            </a:r>
            <a:r>
              <a:rPr lang="en-US" sz="1500" dirty="0" err="1"/>
              <a:t>кажется</a:t>
            </a:r>
            <a:r>
              <a:rPr lang="en-US" sz="1500" dirty="0"/>
              <a:t> </a:t>
            </a:r>
            <a:r>
              <a:rPr lang="en-US" sz="1500" dirty="0" err="1"/>
              <a:t>немного</a:t>
            </a:r>
            <a:r>
              <a:rPr lang="en-US" sz="1500" dirty="0"/>
              <a:t> </a:t>
            </a:r>
            <a:r>
              <a:rPr lang="en-US" sz="1500" dirty="0" err="1"/>
              <a:t>устаревшим</a:t>
            </a:r>
            <a:r>
              <a:rPr lang="en-US" sz="1500" dirty="0"/>
              <a:t> </a:t>
            </a:r>
            <a:r>
              <a:rPr lang="en-US" sz="1500" dirty="0" err="1"/>
              <a:t>по</a:t>
            </a:r>
            <a:r>
              <a:rPr lang="en-US" sz="1500" dirty="0"/>
              <a:t> </a:t>
            </a:r>
            <a:r>
              <a:rPr lang="en-US" sz="1500" dirty="0" err="1"/>
              <a:t>сравнению</a:t>
            </a:r>
            <a:r>
              <a:rPr lang="en-US" sz="1500" dirty="0"/>
              <a:t> с </a:t>
            </a:r>
            <a:r>
              <a:rPr lang="en-US" sz="1500" dirty="0" err="1"/>
              <a:t>другими</a:t>
            </a:r>
            <a:r>
              <a:rPr lang="en-US" sz="1500" dirty="0"/>
              <a:t> </a:t>
            </a:r>
            <a:r>
              <a:rPr lang="en-US" sz="1500" dirty="0" err="1"/>
              <a:t>вариантами</a:t>
            </a:r>
            <a:r>
              <a:rPr lang="en-US" sz="15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952" y="1105620"/>
            <a:ext cx="4572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/>
              <a:t> ONLYOFFICE: </a:t>
            </a:r>
            <a:r>
              <a:rPr lang="en-US" sz="1500" dirty="0" err="1"/>
              <a:t>Сосредоточен</a:t>
            </a:r>
            <a:r>
              <a:rPr lang="en-US" sz="1500" dirty="0"/>
              <a:t> </a:t>
            </a:r>
            <a:r>
              <a:rPr lang="en-US" sz="1500" dirty="0" err="1"/>
              <a:t>на</a:t>
            </a:r>
            <a:r>
              <a:rPr lang="en-US" sz="1500" dirty="0"/>
              <a:t> </a:t>
            </a:r>
            <a:r>
              <a:rPr lang="en-US" sz="1500" dirty="0" err="1"/>
              <a:t>онлайн-сотрудничестве</a:t>
            </a:r>
            <a:r>
              <a:rPr lang="en-US" sz="1500" dirty="0"/>
              <a:t> и </a:t>
            </a:r>
            <a:r>
              <a:rPr lang="en-US" sz="1500" dirty="0" err="1"/>
              <a:t>хорошей</a:t>
            </a:r>
            <a:r>
              <a:rPr lang="en-US" sz="1500" dirty="0"/>
              <a:t> </a:t>
            </a:r>
            <a:r>
              <a:rPr lang="en-US" sz="1500" dirty="0" err="1"/>
              <a:t>совместимости</a:t>
            </a:r>
            <a:r>
              <a:rPr lang="en-US" sz="1500" dirty="0"/>
              <a:t> с Microsoft Office.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473" y="1822667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 err="1"/>
              <a:t>SoftMaker</a:t>
            </a:r>
            <a:r>
              <a:rPr lang="en-US" sz="1500" dirty="0"/>
              <a:t> </a:t>
            </a:r>
            <a:r>
              <a:rPr lang="en-US" sz="1500" dirty="0" err="1"/>
              <a:t>FreeOffice</a:t>
            </a:r>
            <a:r>
              <a:rPr lang="en-US" sz="1500" dirty="0"/>
              <a:t>: </a:t>
            </a:r>
            <a:r>
              <a:rPr lang="en-US" sz="1500" dirty="0" err="1"/>
              <a:t>Хороший</a:t>
            </a:r>
            <a:r>
              <a:rPr lang="en-US" sz="1500" dirty="0"/>
              <a:t> </a:t>
            </a:r>
            <a:r>
              <a:rPr lang="en-US" sz="1500" dirty="0" err="1"/>
              <a:t>выбор</a:t>
            </a:r>
            <a:r>
              <a:rPr lang="en-US" sz="1500" dirty="0"/>
              <a:t> с </a:t>
            </a:r>
            <a:r>
              <a:rPr lang="en-US" sz="1500" dirty="0" err="1"/>
              <a:t>удобным</a:t>
            </a:r>
            <a:r>
              <a:rPr lang="en-US" sz="1500" dirty="0"/>
              <a:t> </a:t>
            </a:r>
            <a:r>
              <a:rPr lang="en-US" sz="1500" dirty="0" err="1"/>
              <a:t>интерфейсом</a:t>
            </a:r>
            <a:r>
              <a:rPr lang="en-US" sz="1500" dirty="0"/>
              <a:t> и </a:t>
            </a:r>
            <a:r>
              <a:rPr lang="en-US" sz="1500" dirty="0" err="1"/>
              <a:t>хорошей</a:t>
            </a:r>
            <a:r>
              <a:rPr lang="en-US" sz="1500" dirty="0"/>
              <a:t> </a:t>
            </a:r>
            <a:r>
              <a:rPr lang="en-US" sz="1500" dirty="0" err="1"/>
              <a:t>производительностью</a:t>
            </a:r>
            <a:r>
              <a:rPr lang="en-US" sz="1500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473" y="248038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500" dirty="0"/>
              <a:t>Google Docs: </a:t>
            </a:r>
            <a:r>
              <a:rPr lang="en-US" sz="1500" dirty="0" err="1"/>
              <a:t>Отличный</a:t>
            </a:r>
            <a:r>
              <a:rPr lang="en-US" sz="1500" dirty="0"/>
              <a:t> </a:t>
            </a:r>
            <a:r>
              <a:rPr lang="en-US" sz="1500" dirty="0" err="1"/>
              <a:t>выбор</a:t>
            </a:r>
            <a:r>
              <a:rPr lang="en-US" sz="1500" dirty="0"/>
              <a:t> </a:t>
            </a:r>
            <a:r>
              <a:rPr lang="en-US" sz="1500" dirty="0" err="1"/>
              <a:t>для</a:t>
            </a:r>
            <a:r>
              <a:rPr lang="en-US" sz="1500" dirty="0"/>
              <a:t> </a:t>
            </a:r>
            <a:r>
              <a:rPr lang="en-US" sz="1500" dirty="0" err="1"/>
              <a:t>онлайн-сотрудничества</a:t>
            </a:r>
            <a:r>
              <a:rPr lang="en-US" sz="1500" dirty="0"/>
              <a:t> и </a:t>
            </a:r>
            <a:r>
              <a:rPr lang="en-US" sz="1500" dirty="0" err="1"/>
              <a:t>доступа</a:t>
            </a:r>
            <a:r>
              <a:rPr lang="en-US" sz="1500" dirty="0"/>
              <a:t> </a:t>
            </a:r>
            <a:r>
              <a:rPr lang="en-US" sz="1500" dirty="0" err="1"/>
              <a:t>из</a:t>
            </a:r>
            <a:r>
              <a:rPr lang="en-US" sz="1500" dirty="0"/>
              <a:t> </a:t>
            </a:r>
            <a:r>
              <a:rPr lang="en-US" sz="1500" dirty="0" err="1"/>
              <a:t>любого</a:t>
            </a:r>
            <a:r>
              <a:rPr lang="en-US" sz="1500" dirty="0"/>
              <a:t> </a:t>
            </a:r>
            <a:r>
              <a:rPr lang="en-US" sz="1500" dirty="0" err="1"/>
              <a:t>места</a:t>
            </a:r>
            <a:r>
              <a:rPr lang="en-US" sz="1500" dirty="0"/>
              <a:t>, </a:t>
            </a:r>
            <a:r>
              <a:rPr lang="en-US" sz="1500" dirty="0" err="1"/>
              <a:t>но</a:t>
            </a:r>
            <a:r>
              <a:rPr lang="en-US" sz="1500" dirty="0"/>
              <a:t> </a:t>
            </a:r>
            <a:r>
              <a:rPr lang="en-US" sz="1500" dirty="0" err="1"/>
              <a:t>требует</a:t>
            </a:r>
            <a:r>
              <a:rPr lang="en-US" sz="1500" dirty="0"/>
              <a:t> </a:t>
            </a:r>
            <a:r>
              <a:rPr lang="en-US" sz="1500" dirty="0" err="1"/>
              <a:t>подключения</a:t>
            </a:r>
            <a:r>
              <a:rPr lang="en-US" sz="1500" dirty="0"/>
              <a:t> к </a:t>
            </a:r>
            <a:r>
              <a:rPr lang="en-US" sz="1500" dirty="0" err="1"/>
              <a:t>Интернету</a:t>
            </a:r>
            <a:r>
              <a:rPr lang="en-US" sz="1500" dirty="0"/>
              <a:t> и </a:t>
            </a:r>
            <a:r>
              <a:rPr lang="en-US" sz="1500" dirty="0" err="1"/>
              <a:t>может</a:t>
            </a:r>
            <a:r>
              <a:rPr lang="en-US" sz="1500" dirty="0"/>
              <a:t> </a:t>
            </a:r>
            <a:r>
              <a:rPr lang="en-US" sz="1500" dirty="0" err="1"/>
              <a:t>не</a:t>
            </a:r>
            <a:r>
              <a:rPr lang="en-US" sz="1500" dirty="0"/>
              <a:t> </a:t>
            </a:r>
            <a:r>
              <a:rPr lang="en-US" sz="1500" dirty="0" err="1"/>
              <a:t>хватать</a:t>
            </a:r>
            <a:r>
              <a:rPr lang="en-US" sz="1500" dirty="0"/>
              <a:t> </a:t>
            </a:r>
            <a:r>
              <a:rPr lang="en-US" sz="1500" dirty="0" err="1"/>
              <a:t>некоторых</a:t>
            </a:r>
            <a:r>
              <a:rPr lang="en-US" sz="1500" dirty="0"/>
              <a:t> </a:t>
            </a:r>
            <a:r>
              <a:rPr lang="en-US" sz="1500" dirty="0" err="1"/>
              <a:t>расширенных</a:t>
            </a:r>
            <a:r>
              <a:rPr lang="en-US" sz="1500" dirty="0"/>
              <a:t> </a:t>
            </a:r>
            <a:r>
              <a:rPr lang="en-US" sz="1500" dirty="0" err="1"/>
              <a:t>функций</a:t>
            </a:r>
            <a:r>
              <a:rPr lang="en-US" sz="15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22" y="4653281"/>
            <a:ext cx="5812530" cy="18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3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7"/>
          </p:nvPr>
        </p:nvSpPr>
        <p:spPr>
          <a:xfrm>
            <a:off x="385235" y="1224605"/>
            <a:ext cx="8300717" cy="1691315"/>
          </a:xfrm>
        </p:spPr>
        <p:txBody>
          <a:bodyPr/>
          <a:lstStyle/>
          <a:p>
            <a:r>
              <a:rPr lang="ru-RU" sz="2000" dirty="0"/>
              <a:t>1. Бесплатный и с открытым исходным кодом</a:t>
            </a:r>
            <a:r>
              <a:rPr lang="ru-RU" sz="2000" dirty="0" smtClean="0"/>
              <a:t>:</a:t>
            </a:r>
            <a:endParaRPr lang="en-US" sz="2000" dirty="0" smtClean="0"/>
          </a:p>
          <a:p>
            <a:r>
              <a:rPr lang="ru-RU" sz="2000" dirty="0"/>
              <a:t> Это самое большое преимущество LibreOffice. Пользователям не нужно платить за использование всех функций офисного пакета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r>
              <a:rPr lang="ru-RU" sz="2000" dirty="0"/>
              <a:t> Открытый исходный код позволяет пользователям настраивать, изменять и распространять программное обеспечение в соответствии со своими потребностями. Это особенно важно для организаций или частных лиц, которые хотят полностью контролировать используемое ими программное обеспечение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ru-RU" sz="2000" dirty="0" smtClean="0"/>
              <a:t>2</a:t>
            </a:r>
            <a:r>
              <a:rPr lang="ru-RU" sz="2000" dirty="0"/>
              <a:t>. Кроссплатформенность</a:t>
            </a:r>
            <a:r>
              <a:rPr lang="ru-RU" sz="2000" dirty="0" smtClean="0"/>
              <a:t>:</a:t>
            </a:r>
            <a:endParaRPr lang="en-US" sz="2000" dirty="0" smtClean="0"/>
          </a:p>
          <a:p>
            <a:r>
              <a:rPr lang="ru-RU" sz="2000" dirty="0"/>
              <a:t> LibreOffice работает на многих операционных системах, включая Windows, macOS и Linux. Это позволяет пользователям использовать офисный пакет на любом устройстве, которое у них есть</a:t>
            </a:r>
            <a:endParaRPr lang="en-US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 smtClean="0">
                <a:solidFill>
                  <a:srgbClr val="46B654"/>
                </a:solidFill>
              </a:rPr>
              <a:t>По </a:t>
            </a:r>
            <a:r>
              <a:rPr lang="ru-RU" dirty="0">
                <a:solidFill>
                  <a:srgbClr val="46B654"/>
                </a:solidFill>
              </a:rPr>
              <a:t>сравнению с другими платформами офисных приложений, LibreOffice наиболее силен в следующих моментах, что побуждает пользователей выбирать его:</a:t>
            </a:r>
            <a:endParaRPr lang="en-US" dirty="0">
              <a:solidFill>
                <a:srgbClr val="46B6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4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>
                <a:solidFill>
                  <a:srgbClr val="46B654"/>
                </a:solidFill>
              </a:rPr>
              <a:t>По сравнению с другими платформами офисных приложений, LibreOffice наиболее силен в следующих моментах, что побуждает пользователей выбирать его</a:t>
            </a:r>
            <a:endParaRPr lang="en-US" dirty="0">
              <a:solidFill>
                <a:srgbClr val="46B654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ru-RU" sz="2000" dirty="0"/>
              <a:t>4. Конфиденциальность и безопасность:</a:t>
            </a:r>
            <a:endParaRPr lang="en-US" sz="2000" dirty="0"/>
          </a:p>
          <a:p>
            <a:r>
              <a:rPr lang="ru-RU" sz="2000" dirty="0"/>
              <a:t>Поскольку LibreOffice является программным обеспечением с открытым исходным кодом, пользователи могут проверять исходный код, чтобы убедиться в отсутствии вредоносного ПО или отслеживания пользователей.</a:t>
            </a:r>
            <a:endParaRPr lang="en-US" sz="2000" dirty="0"/>
          </a:p>
          <a:p>
            <a:r>
              <a:rPr lang="ru-RU" sz="2000" dirty="0"/>
              <a:t> В отличие от онлайн-офисных приложений, LibreOffice не требует от пользователей загружать файлы в облако, что помогает защитить их конфиденциальность.</a:t>
            </a:r>
            <a:endParaRPr lang="en-US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ru-RU" sz="2000" dirty="0"/>
              <a:t>3. Поддержка множества форматов файлов</a:t>
            </a:r>
            <a:r>
              <a:rPr lang="ru-RU" sz="2000" dirty="0" smtClean="0"/>
              <a:t>:</a:t>
            </a:r>
            <a:endParaRPr lang="en-US" sz="2000" dirty="0" smtClean="0"/>
          </a:p>
          <a:p>
            <a:r>
              <a:rPr lang="ru-RU" sz="2000" dirty="0"/>
              <a:t>LibreOffice совместим со многими форматами файлов, включая форматы Microsoft Office (такие как .docx, .xlsx, .pptx). Это позволяет пользователям легко открывать, редактировать и сохранять файлы, созданные с помощью других офисных приложений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r>
              <a:rPr lang="ru-RU" sz="20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378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1800" dirty="0">
              <a:solidFill>
                <a:srgbClr val="46B654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8"/>
          </p:nvPr>
        </p:nvPicPr>
        <p:blipFill>
          <a:blip r:embed="rId2"/>
          <a:stretch>
            <a:fillRect/>
          </a:stretch>
        </p:blipFill>
        <p:spPr>
          <a:xfrm>
            <a:off x="4202749" y="1027154"/>
            <a:ext cx="4613554" cy="261816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ru-RU" sz="2000" dirty="0"/>
              <a:t>Короче говоря, если вам нужен бесплатный, кроссплатформенный офисный пакет с открытым исходным кодом, поддерживающий множество форматов файлов и заботящийся о конфиденциальности и безопасности, LibreOffice - лучший выбор по сравнению с другими приложениями на рынке.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871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71043" y="3054763"/>
            <a:ext cx="5397358" cy="1205087"/>
          </a:xfrm>
        </p:spPr>
        <p:txBody>
          <a:bodyPr/>
          <a:lstStyle/>
          <a:p>
            <a:r>
              <a:rPr lang="ru-RU" sz="3600" dirty="0" smtClean="0">
                <a:solidFill>
                  <a:srgbClr val="46B654"/>
                </a:solidFill>
              </a:rPr>
              <a:t>Спасибо за внимание!!!</a:t>
            </a:r>
            <a:endParaRPr lang="en-US" sz="3600" dirty="0">
              <a:solidFill>
                <a:srgbClr val="46B6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ytech-43" id="{9A460D0A-6C14-C94F-BBE8-3EE0A4029E07}" vid="{8584E016-AE18-9B41-80FF-BC88C17723AD}"/>
    </a:ext>
  </a:extLst>
</a:theme>
</file>

<file path=ppt/theme/theme2.xml><?xml version="1.0" encoding="utf-8"?>
<a:theme xmlns:a="http://schemas.openxmlformats.org/drawingml/2006/main" name="1_presentation">
  <a:themeElements>
    <a:clrScheme name="Polytech 1">
      <a:dk1>
        <a:srgbClr val="424242"/>
      </a:dk1>
      <a:lt1>
        <a:srgbClr val="FFFFFF"/>
      </a:lt1>
      <a:dk2>
        <a:srgbClr val="000000"/>
      </a:dk2>
      <a:lt2>
        <a:srgbClr val="FFFFFF"/>
      </a:lt2>
      <a:accent1>
        <a:srgbClr val="13B14A"/>
      </a:accent1>
      <a:accent2>
        <a:srgbClr val="0696D7"/>
      </a:accent2>
      <a:accent3>
        <a:srgbClr val="32BCAD"/>
      </a:accent3>
      <a:accent4>
        <a:srgbClr val="A6F900"/>
      </a:accent4>
      <a:accent5>
        <a:srgbClr val="005E30"/>
      </a:accent5>
      <a:accent6>
        <a:srgbClr val="007272"/>
      </a:accent6>
      <a:hlink>
        <a:srgbClr val="0595D7"/>
      </a:hlink>
      <a:folHlink>
        <a:srgbClr val="007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ytech-43" id="{9A460D0A-6C14-C94F-BBE8-3EE0A4029E07}" vid="{8584E016-AE18-9B41-80FF-BC88C17723AD}"/>
    </a:ext>
  </a:extLst>
</a:theme>
</file>

<file path=ppt/theme/theme3.xml><?xml version="1.0" encoding="utf-8"?>
<a:theme xmlns:a="http://schemas.openxmlformats.org/drawingml/2006/main" name="2_presentation">
  <a:themeElements>
    <a:clrScheme name="Polytech 1">
      <a:dk1>
        <a:srgbClr val="424242"/>
      </a:dk1>
      <a:lt1>
        <a:srgbClr val="FFFFFF"/>
      </a:lt1>
      <a:dk2>
        <a:srgbClr val="000000"/>
      </a:dk2>
      <a:lt2>
        <a:srgbClr val="FFFFFF"/>
      </a:lt2>
      <a:accent1>
        <a:srgbClr val="13B14A"/>
      </a:accent1>
      <a:accent2>
        <a:srgbClr val="0696D7"/>
      </a:accent2>
      <a:accent3>
        <a:srgbClr val="32BCAD"/>
      </a:accent3>
      <a:accent4>
        <a:srgbClr val="A6F900"/>
      </a:accent4>
      <a:accent5>
        <a:srgbClr val="005E30"/>
      </a:accent5>
      <a:accent6>
        <a:srgbClr val="007272"/>
      </a:accent6>
      <a:hlink>
        <a:srgbClr val="0595D7"/>
      </a:hlink>
      <a:folHlink>
        <a:srgbClr val="007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ytech-43" id="{9A460D0A-6C14-C94F-BBE8-3EE0A4029E07}" vid="{8584E016-AE18-9B41-80FF-BC88C17723AD}"/>
    </a:ext>
  </a:extLst>
</a:theme>
</file>

<file path=ppt/theme/theme4.xml><?xml version="1.0" encoding="utf-8"?>
<a:theme xmlns:a="http://schemas.openxmlformats.org/drawingml/2006/main" name="1_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presentation">
  <a:themeElements>
    <a:clrScheme name="Polytech 1">
      <a:dk1>
        <a:srgbClr val="424242"/>
      </a:dk1>
      <a:lt1>
        <a:srgbClr val="FFFFFF"/>
      </a:lt1>
      <a:dk2>
        <a:srgbClr val="000000"/>
      </a:dk2>
      <a:lt2>
        <a:srgbClr val="FFFFFF"/>
      </a:lt2>
      <a:accent1>
        <a:srgbClr val="13B14A"/>
      </a:accent1>
      <a:accent2>
        <a:srgbClr val="0696D7"/>
      </a:accent2>
      <a:accent3>
        <a:srgbClr val="32BCAD"/>
      </a:accent3>
      <a:accent4>
        <a:srgbClr val="A6F900"/>
      </a:accent4>
      <a:accent5>
        <a:srgbClr val="005E30"/>
      </a:accent5>
      <a:accent6>
        <a:srgbClr val="007272"/>
      </a:accent6>
      <a:hlink>
        <a:srgbClr val="0595D7"/>
      </a:hlink>
      <a:folHlink>
        <a:srgbClr val="007F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ytech-43" id="{9A460D0A-6C14-C94F-BBE8-3EE0A4029E07}" vid="{8584E016-AE18-9B41-80FF-BC88C17723AD}"/>
    </a:ext>
  </a:extLst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644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Frutiger Next LT W1G</vt:lpstr>
      <vt:lpstr>PT Sans</vt:lpstr>
      <vt:lpstr>PT Sans Caption</vt:lpstr>
      <vt:lpstr>Times New Roman</vt:lpstr>
      <vt:lpstr>Wingdings</vt:lpstr>
      <vt:lpstr>presentation</vt:lpstr>
      <vt:lpstr>1_presentation</vt:lpstr>
      <vt:lpstr>2_presentation</vt:lpstr>
      <vt:lpstr>1_Оформление по умолчанию</vt:lpstr>
      <vt:lpstr>3_presentation</vt:lpstr>
      <vt:lpstr>PowerPoint Presentation</vt:lpstr>
      <vt:lpstr>Институт биомедицинских 4731204/50001  систем и биотехнологий</vt:lpstr>
      <vt:lpstr>Преимущества &amp; Недостатки: </vt:lpstr>
      <vt:lpstr>2. Сравнение LibreOffice с Microsoft Office и другими офисными приложениями:</vt:lpstr>
      <vt:lpstr>Сравнение LibreOffice с Microsoft Office и другими офисными приложениями:</vt:lpstr>
      <vt:lpstr>По сравнению с другими платформами офисных приложений, LibreOffice наиболее силен в следующих моментах, что побуждает пользователей выбирать его:</vt:lpstr>
      <vt:lpstr>По сравнению с другими платформами офисных приложений, LibreOffice наиболее силен в следующих моментах, что побуждает пользователей выбирать его</vt:lpstr>
      <vt:lpstr>PowerPoint Presentation</vt:lpstr>
      <vt:lpstr>PowerPoint Presentation</vt:lpstr>
    </vt:vector>
  </TitlesOfParts>
  <Company>ЛПИ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potential formulation of coupled nonlinear electro-mechanical problems</dc:title>
  <dc:creator>Артём</dc:creator>
  <cp:lastModifiedBy>Admin</cp:lastModifiedBy>
  <cp:revision>182</cp:revision>
  <cp:lastPrinted>2004-06-08T20:06:15Z</cp:lastPrinted>
  <dcterms:created xsi:type="dcterms:W3CDTF">2004-05-26T08:22:16Z</dcterms:created>
  <dcterms:modified xsi:type="dcterms:W3CDTF">2025-11-16T20:10:49Z</dcterms:modified>
</cp:coreProperties>
</file>